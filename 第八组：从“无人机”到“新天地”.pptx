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306" r:id="rId5"/>
    <p:sldId id="273" r:id="rId6"/>
    <p:sldId id="302" r:id="rId7"/>
    <p:sldId id="283" r:id="rId8"/>
    <p:sldId id="296" r:id="rId9"/>
    <p:sldId id="297" r:id="rId10"/>
    <p:sldId id="289" r:id="rId11"/>
    <p:sldId id="284" r:id="rId12"/>
    <p:sldId id="308" r:id="rId13"/>
    <p:sldId id="279" r:id="rId14"/>
    <p:sldId id="307" r:id="rId15"/>
    <p:sldId id="309" r:id="rId16"/>
    <p:sldId id="310" r:id="rId17"/>
    <p:sldId id="313" r:id="rId18"/>
    <p:sldId id="312" r:id="rId19"/>
    <p:sldId id="314" r:id="rId20"/>
    <p:sldId id="316" r:id="rId21"/>
    <p:sldId id="300" r:id="rId22"/>
    <p:sldId id="317" r:id="rId23"/>
    <p:sldId id="269" r:id="rId24"/>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 userDrawn="1">
          <p15:clr>
            <a:srgbClr val="A4A3A4"/>
          </p15:clr>
        </p15:guide>
        <p15:guide id="2" pos="7296" userDrawn="1">
          <p15:clr>
            <a:srgbClr val="A4A3A4"/>
          </p15:clr>
        </p15:guide>
        <p15:guide id="3" orient="horz" pos="640" userDrawn="1">
          <p15:clr>
            <a:srgbClr val="A4A3A4"/>
          </p15:clr>
        </p15:guide>
        <p15:guide id="4" orient="horz" pos="706"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jiaqi" initials="wj"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0000"/>
    <a:srgbClr val="9E0000"/>
    <a:srgbClr val="912727"/>
    <a:srgbClr val="D35B5B"/>
    <a:srgbClr val="7A0000"/>
    <a:srgbClr val="F0BEBE"/>
    <a:srgbClr val="DF6F6F"/>
    <a:srgbClr val="9C0000"/>
    <a:srgbClr val="9A0000"/>
    <a:srgbClr val="EDF3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7" autoAdjust="0"/>
    <p:restoredTop sz="94660"/>
  </p:normalViewPr>
  <p:slideViewPr>
    <p:cSldViewPr snapToGrid="0" showGuides="1">
      <p:cViewPr varScale="1">
        <p:scale>
          <a:sx n="84" d="100"/>
          <a:sy n="84" d="100"/>
        </p:scale>
        <p:origin x="422" y="82"/>
      </p:cViewPr>
      <p:guideLst>
        <p:guide pos="384"/>
        <p:guide pos="7296"/>
        <p:guide orient="horz" pos="640"/>
        <p:guide orient="horz" pos="706"/>
        <p:guide orient="horz" pos="3928"/>
        <p:guide orient="horz" pos="386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image" Target="../media/image17.jpg"/></Relationships>
</file>

<file path=ppt/diagrams/_rels/drawing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image" Target="../media/image17.jpg"/></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21D9918-5EF8-48D0-A467-5199A50EE747}" type="doc">
      <dgm:prSet loTypeId="urn:microsoft.com/office/officeart/2005/8/layout/pList2" loCatId="list" qsTypeId="urn:microsoft.com/office/officeart/2005/8/quickstyle/simple1#3" qsCatId="simple" csTypeId="urn:microsoft.com/office/officeart/2005/8/colors/accent1_2#3" csCatId="accent1" phldr="1"/>
      <dgm:spPr/>
    </dgm:pt>
    <dgm:pt modelId="{658CF69D-9425-45ED-8652-9BF9E373403B}">
      <dgm:prSet phldrT="[文本]" custT="1"/>
      <dgm:spPr>
        <a:solidFill>
          <a:srgbClr val="A80000">
            <a:alpha val="75000"/>
          </a:srgbClr>
        </a:solidFill>
      </dgm:spPr>
      <dgm:t>
        <a:bodyPr/>
        <a:lstStyle/>
        <a:p>
          <a:pPr>
            <a:buNone/>
          </a:pPr>
          <a:r>
            <a:rPr lang="zh-CN" altLang="en-US" sz="1400" b="0" i="0" dirty="0">
              <a:latin typeface="宋体" panose="02010600030101010101" pitchFamily="2" charset="-122"/>
              <a:ea typeface="宋体" panose="02010600030101010101" pitchFamily="2" charset="-122"/>
            </a:rPr>
            <a:t>在</a:t>
          </a:r>
          <a:r>
            <a:rPr lang="en-US" altLang="en-US" sz="1400" b="0" i="0" dirty="0">
              <a:latin typeface="宋体" panose="02010600030101010101" pitchFamily="2" charset="-122"/>
              <a:ea typeface="宋体" panose="02010600030101010101" pitchFamily="2" charset="-122"/>
            </a:rPr>
            <a:t>2000</a:t>
          </a:r>
          <a:r>
            <a:rPr lang="zh-CN" altLang="en-US" sz="1400" b="0" i="0" dirty="0">
              <a:latin typeface="宋体" panose="02010600030101010101" pitchFamily="2" charset="-122"/>
              <a:ea typeface="宋体" panose="02010600030101010101" pitchFamily="2" charset="-122"/>
            </a:rPr>
            <a:t>年后，随着</a:t>
          </a:r>
          <a:r>
            <a:rPr lang="en-US" altLang="en-US" sz="1400" b="0" i="0" dirty="0">
              <a:latin typeface="宋体" panose="02010600030101010101" pitchFamily="2" charset="-122"/>
              <a:ea typeface="宋体" panose="02010600030101010101" pitchFamily="2" charset="-122"/>
            </a:rPr>
            <a:t>GPS/</a:t>
          </a:r>
          <a:r>
            <a:rPr lang="zh-CN" altLang="en-US" sz="1400" b="0" i="0" dirty="0">
              <a:latin typeface="宋体" panose="02010600030101010101" pitchFamily="2" charset="-122"/>
              <a:ea typeface="宋体" panose="02010600030101010101" pitchFamily="2" charset="-122"/>
            </a:rPr>
            <a:t>北斗卫星导航普及、高性能锂电池与无刷电机成熟，特别是智能手机产业拉低了传感器与芯片成本，为无人机制造扫清了障碍。以中国公司大疆为代表的企业，凭借在飞控系统等核心技术的积累和快速的迭代创新能力，迅速占领全球消费级市场主导地位。这标志着无人机从极客玩具转变为大众消费品和生产力工具。</a:t>
          </a:r>
          <a:endParaRPr lang="zh-CN" altLang="en-US" sz="1400" dirty="0">
            <a:latin typeface="宋体" panose="02010600030101010101" pitchFamily="2" charset="-122"/>
            <a:ea typeface="宋体" panose="02010600030101010101" pitchFamily="2" charset="-122"/>
          </a:endParaRPr>
        </a:p>
      </dgm:t>
    </dgm:pt>
    <dgm:pt modelId="{EA91BFB0-743A-4C8F-9698-AFA3EBFD3D34}" type="parTrans" cxnId="{4D080B15-B6B7-451A-BC35-B01458EED128}">
      <dgm:prSet/>
      <dgm:spPr/>
      <dgm:t>
        <a:bodyPr/>
        <a:lstStyle/>
        <a:p>
          <a:endParaRPr lang="zh-CN" altLang="en-US"/>
        </a:p>
      </dgm:t>
    </dgm:pt>
    <dgm:pt modelId="{2B16C8DC-69CA-410E-BA47-3496FAD11387}" type="sibTrans" cxnId="{4D080B15-B6B7-451A-BC35-B01458EED128}">
      <dgm:prSet/>
      <dgm:spPr/>
      <dgm:t>
        <a:bodyPr/>
        <a:lstStyle/>
        <a:p>
          <a:endParaRPr lang="zh-CN" altLang="en-US"/>
        </a:p>
      </dgm:t>
    </dgm:pt>
    <dgm:pt modelId="{AC7DEDD3-0A2A-4D30-98DB-6B60D3FC8991}">
      <dgm:prSet phldrT="[文本]" custT="1"/>
      <dgm:spPr>
        <a:solidFill>
          <a:srgbClr val="A80000">
            <a:alpha val="75000"/>
          </a:srgbClr>
        </a:solidFill>
      </dgm:spPr>
      <dgm:t>
        <a:bodyPr/>
        <a:lstStyle/>
        <a:p>
          <a:pPr>
            <a:buNone/>
          </a:pPr>
          <a:r>
            <a:rPr lang="zh-CN" altLang="en-US" sz="1400" b="0" i="0" dirty="0">
              <a:latin typeface="宋体" panose="02010600030101010101" pitchFamily="2" charset="-122"/>
              <a:ea typeface="宋体" panose="02010600030101010101" pitchFamily="2" charset="-122"/>
            </a:rPr>
            <a:t>工业无人机是从消费级航拍中分化出的专业力量。它通过专用平台、任务载荷及行业软件，深度赋能实体经济。已在农业植保、电力巡检、地理测绘、应急物流等领域替代高危、低效的人工作业，成为标准生产工具。</a:t>
          </a:r>
          <a:r>
            <a:rPr lang="zh-CN" altLang="en-US" sz="1400" b="0" i="0" dirty="0"/>
            <a:t>并正向智能化、集群化系统演进，成为低空经济的关键生产力工具。</a:t>
          </a:r>
          <a:endParaRPr lang="zh-CN" altLang="en-US" sz="1400" dirty="0">
            <a:latin typeface="宋体" panose="02010600030101010101" pitchFamily="2" charset="-122"/>
            <a:ea typeface="宋体" panose="02010600030101010101" pitchFamily="2" charset="-122"/>
          </a:endParaRPr>
        </a:p>
      </dgm:t>
    </dgm:pt>
    <dgm:pt modelId="{16560C84-5C4A-4235-A80C-D1EB5C3A6904}" type="parTrans" cxnId="{64A939C8-00B8-4AE6-A0DA-CB0F147DDCA6}">
      <dgm:prSet/>
      <dgm:spPr/>
      <dgm:t>
        <a:bodyPr/>
        <a:lstStyle/>
        <a:p>
          <a:endParaRPr lang="zh-CN" altLang="en-US"/>
        </a:p>
      </dgm:t>
    </dgm:pt>
    <dgm:pt modelId="{EEDC9314-9405-409A-BF05-43DAA1E4571B}" type="sibTrans" cxnId="{64A939C8-00B8-4AE6-A0DA-CB0F147DDCA6}">
      <dgm:prSet/>
      <dgm:spPr/>
      <dgm:t>
        <a:bodyPr/>
        <a:lstStyle/>
        <a:p>
          <a:endParaRPr lang="zh-CN" altLang="en-US"/>
        </a:p>
      </dgm:t>
    </dgm:pt>
    <dgm:pt modelId="{5DDDD78B-E048-4962-849F-1865F3D6429E}">
      <dgm:prSet phldrT="[文本]" custT="1"/>
      <dgm:spPr>
        <a:solidFill>
          <a:srgbClr val="A80000">
            <a:alpha val="75000"/>
          </a:srgbClr>
        </a:solidFill>
      </dgm:spPr>
      <dgm:t>
        <a:bodyPr/>
        <a:lstStyle/>
        <a:p>
          <a:pPr>
            <a:buNone/>
          </a:pPr>
          <a:r>
            <a:rPr lang="zh-CN" altLang="en-US" sz="1400" b="0" i="0" dirty="0">
              <a:latin typeface="宋体" panose="02010600030101010101" pitchFamily="2" charset="-122"/>
              <a:ea typeface="宋体" panose="02010600030101010101" pitchFamily="2" charset="-122"/>
            </a:rPr>
            <a:t>从工业无人机到载人飞行器，是低空经济从“生产工具”迈向“立体出行”的质变飞跃。以电动垂直起降为代表的飞行器，依托无人机已成熟的电动化、智能导航与集群控制技术，将应用场景拓展至城市空中交通、高端观光及应急救援等领域，标志着低空资源开发进入规模化载人新阶段，正重塑未来城市交通图景。</a:t>
          </a:r>
          <a:endParaRPr lang="zh-CN" altLang="en-US" sz="1400" dirty="0">
            <a:latin typeface="宋体" panose="02010600030101010101" pitchFamily="2" charset="-122"/>
            <a:ea typeface="宋体" panose="02010600030101010101" pitchFamily="2" charset="-122"/>
          </a:endParaRPr>
        </a:p>
      </dgm:t>
    </dgm:pt>
    <dgm:pt modelId="{2BDB29A4-7AA6-427E-AC23-C7E1ED254038}" type="parTrans" cxnId="{E8671FDE-CABE-4C44-971F-CA970BDB7463}">
      <dgm:prSet/>
      <dgm:spPr/>
      <dgm:t>
        <a:bodyPr/>
        <a:lstStyle/>
        <a:p>
          <a:endParaRPr lang="zh-CN" altLang="en-US"/>
        </a:p>
      </dgm:t>
    </dgm:pt>
    <dgm:pt modelId="{F59A1DB9-0FE4-4E76-B296-81A46E1B5AFC}" type="sibTrans" cxnId="{E8671FDE-CABE-4C44-971F-CA970BDB7463}">
      <dgm:prSet/>
      <dgm:spPr/>
      <dgm:t>
        <a:bodyPr/>
        <a:lstStyle/>
        <a:p>
          <a:endParaRPr lang="zh-CN" altLang="en-US"/>
        </a:p>
      </dgm:t>
    </dgm:pt>
    <dgm:pt modelId="{9B32F9C1-D418-4FE8-8B15-53EE734101F3}" type="pres">
      <dgm:prSet presAssocID="{321D9918-5EF8-48D0-A467-5199A50EE747}" presName="Name0" presStyleCnt="0">
        <dgm:presLayoutVars>
          <dgm:dir/>
          <dgm:resizeHandles val="exact"/>
        </dgm:presLayoutVars>
      </dgm:prSet>
      <dgm:spPr/>
    </dgm:pt>
    <dgm:pt modelId="{98599EC0-C20D-46B6-9A4B-291CFACBA96B}" type="pres">
      <dgm:prSet presAssocID="{321D9918-5EF8-48D0-A467-5199A50EE747}" presName="bkgdShp" presStyleLbl="alignAccFollowNode1" presStyleIdx="0" presStyleCnt="1" custScaleX="98357" custScaleY="77232"/>
      <dgm:spPr>
        <a:solidFill>
          <a:srgbClr val="F0BEBE">
            <a:alpha val="29000"/>
          </a:srgbClr>
        </a:solidFill>
      </dgm:spPr>
    </dgm:pt>
    <dgm:pt modelId="{4A05DF1D-D6A0-4457-A65C-6628AEB084F9}" type="pres">
      <dgm:prSet presAssocID="{321D9918-5EF8-48D0-A467-5199A50EE747}" presName="linComp" presStyleCnt="0"/>
      <dgm:spPr/>
    </dgm:pt>
    <dgm:pt modelId="{B65B61F0-50A7-45A7-A926-CA7D9BCB57F0}" type="pres">
      <dgm:prSet presAssocID="{658CF69D-9425-45ED-8652-9BF9E373403B}" presName="compNode" presStyleCnt="0"/>
      <dgm:spPr/>
    </dgm:pt>
    <dgm:pt modelId="{C9DBF77A-0F9B-4BC0-8641-E7AD6A7CE200}" type="pres">
      <dgm:prSet presAssocID="{658CF69D-9425-45ED-8652-9BF9E373403B}" presName="node" presStyleLbl="node1" presStyleIdx="0" presStyleCnt="3" custScaleX="99718" custScaleY="111184" custLinFactNeighborX="-11164" custLinFactNeighborY="-1114">
        <dgm:presLayoutVars>
          <dgm:bulletEnabled val="1"/>
        </dgm:presLayoutVars>
      </dgm:prSet>
      <dgm:spPr/>
    </dgm:pt>
    <dgm:pt modelId="{927A1850-163B-4CF6-B680-4F8533812A3C}" type="pres">
      <dgm:prSet presAssocID="{658CF69D-9425-45ED-8652-9BF9E373403B}" presName="invisiNode" presStyleLbl="node1" presStyleIdx="0" presStyleCnt="3"/>
      <dgm:spPr/>
    </dgm:pt>
    <dgm:pt modelId="{C5A80C64-E2FF-4185-A7F9-240792CA9AF7}" type="pres">
      <dgm:prSet presAssocID="{658CF69D-9425-45ED-8652-9BF9E373403B}" presName="imagNode" presStyleLbl="fgImgPlace1" presStyleIdx="0" presStyleCnt="3" custScaleX="105443" custScaleY="105579" custLinFactNeighborX="-9400" custLinFactNeighborY="3765"/>
      <dgm:spPr>
        <a:blipFill>
          <a:blip xmlns:r="http://schemas.openxmlformats.org/officeDocument/2006/relationships" r:embed="rId1"/>
          <a:srcRect/>
          <a:stretch>
            <a:fillRect l="-6000" r="-6000"/>
          </a:stretch>
        </a:blipFill>
      </dgm:spPr>
    </dgm:pt>
    <dgm:pt modelId="{8C9A1EB8-B4D0-4581-8661-7C538302AC02}" type="pres">
      <dgm:prSet presAssocID="{2B16C8DC-69CA-410E-BA47-3496FAD11387}" presName="sibTrans" presStyleLbl="sibTrans2D1" presStyleIdx="0" presStyleCnt="0"/>
      <dgm:spPr/>
    </dgm:pt>
    <dgm:pt modelId="{BB20AD58-7CBF-47BE-8990-5244D49518D0}" type="pres">
      <dgm:prSet presAssocID="{AC7DEDD3-0A2A-4D30-98DB-6B60D3FC8991}" presName="compNode" presStyleCnt="0"/>
      <dgm:spPr/>
    </dgm:pt>
    <dgm:pt modelId="{66F35090-44FB-4B18-9AC8-65B786E00D0D}" type="pres">
      <dgm:prSet presAssocID="{AC7DEDD3-0A2A-4D30-98DB-6B60D3FC8991}" presName="node" presStyleLbl="node1" presStyleIdx="1" presStyleCnt="3" custScaleX="101083" custScaleY="106813">
        <dgm:presLayoutVars>
          <dgm:bulletEnabled val="1"/>
        </dgm:presLayoutVars>
      </dgm:prSet>
      <dgm:spPr/>
    </dgm:pt>
    <dgm:pt modelId="{F993AA90-4087-437D-A4E0-9FEF5712B792}" type="pres">
      <dgm:prSet presAssocID="{AC7DEDD3-0A2A-4D30-98DB-6B60D3FC8991}" presName="invisiNode" presStyleLbl="node1" presStyleIdx="1" presStyleCnt="3"/>
      <dgm:spPr/>
    </dgm:pt>
    <dgm:pt modelId="{6B26EDF8-8571-484D-A603-5F960C7E0CCB}" type="pres">
      <dgm:prSet presAssocID="{AC7DEDD3-0A2A-4D30-98DB-6B60D3FC8991}" presName="imagNode" presStyleLbl="fgImgPlace1" presStyleIdx="1" presStyleCnt="3" custScaleX="110804" custScaleY="106554" custLinFactNeighborX="-711" custLinFactNeighborY="3862"/>
      <dgm:spPr>
        <a:blipFill>
          <a:blip xmlns:r="http://schemas.openxmlformats.org/officeDocument/2006/relationships" r:embed="rId2"/>
          <a:srcRect/>
          <a:stretch>
            <a:fillRect l="-17000" r="-17000"/>
          </a:stretch>
        </a:blipFill>
      </dgm:spPr>
    </dgm:pt>
    <dgm:pt modelId="{9C5E1BEA-19E5-430B-9D25-6F009DA047A0}" type="pres">
      <dgm:prSet presAssocID="{EEDC9314-9405-409A-BF05-43DAA1E4571B}" presName="sibTrans" presStyleLbl="sibTrans2D1" presStyleIdx="0" presStyleCnt="0"/>
      <dgm:spPr/>
    </dgm:pt>
    <dgm:pt modelId="{46D3057B-1CDD-4E84-8158-3CA69B5FB63E}" type="pres">
      <dgm:prSet presAssocID="{5DDDD78B-E048-4962-849F-1865F3D6429E}" presName="compNode" presStyleCnt="0"/>
      <dgm:spPr/>
    </dgm:pt>
    <dgm:pt modelId="{455E96A8-45B6-46A8-85F0-B7C4D991E0EB}" type="pres">
      <dgm:prSet presAssocID="{5DDDD78B-E048-4962-849F-1865F3D6429E}" presName="node" presStyleLbl="node1" presStyleIdx="2" presStyleCnt="3" custScaleY="104542" custLinFactNeighborX="10009" custLinFactNeighborY="-1136">
        <dgm:presLayoutVars>
          <dgm:bulletEnabled val="1"/>
        </dgm:presLayoutVars>
      </dgm:prSet>
      <dgm:spPr/>
    </dgm:pt>
    <dgm:pt modelId="{85087369-51FA-4B8D-BD1A-2B41E1E5AD76}" type="pres">
      <dgm:prSet presAssocID="{5DDDD78B-E048-4962-849F-1865F3D6429E}" presName="invisiNode" presStyleLbl="node1" presStyleIdx="2" presStyleCnt="3"/>
      <dgm:spPr/>
    </dgm:pt>
    <dgm:pt modelId="{E4186234-FFA4-4D2F-8BC3-46C45EC8AAB8}" type="pres">
      <dgm:prSet presAssocID="{5DDDD78B-E048-4962-849F-1865F3D6429E}" presName="imagNode" presStyleLbl="fgImgPlace1" presStyleIdx="2" presStyleCnt="3" custScaleX="100690" custScaleY="106493" custLinFactNeighborX="7754" custLinFactNeighborY="126"/>
      <dgm:spPr>
        <a:blipFill>
          <a:blip xmlns:r="http://schemas.openxmlformats.org/officeDocument/2006/relationships" r:embed="rId3"/>
          <a:srcRect/>
          <a:stretch>
            <a:fillRect l="-1000" r="-1000"/>
          </a:stretch>
        </a:blipFill>
      </dgm:spPr>
    </dgm:pt>
  </dgm:ptLst>
  <dgm:cxnLst>
    <dgm:cxn modelId="{4D080B15-B6B7-451A-BC35-B01458EED128}" srcId="{321D9918-5EF8-48D0-A467-5199A50EE747}" destId="{658CF69D-9425-45ED-8652-9BF9E373403B}" srcOrd="0" destOrd="0" parTransId="{EA91BFB0-743A-4C8F-9698-AFA3EBFD3D34}" sibTransId="{2B16C8DC-69CA-410E-BA47-3496FAD11387}"/>
    <dgm:cxn modelId="{50A06B22-F419-4CBF-9D1C-5201469D5621}" type="presOf" srcId="{EEDC9314-9405-409A-BF05-43DAA1E4571B}" destId="{9C5E1BEA-19E5-430B-9D25-6F009DA047A0}" srcOrd="0" destOrd="0" presId="urn:microsoft.com/office/officeart/2005/8/layout/pList2"/>
    <dgm:cxn modelId="{59EA5D28-7EC2-4883-A529-BCDE206E2A66}" type="presOf" srcId="{5DDDD78B-E048-4962-849F-1865F3D6429E}" destId="{455E96A8-45B6-46A8-85F0-B7C4D991E0EB}" srcOrd="0" destOrd="0" presId="urn:microsoft.com/office/officeart/2005/8/layout/pList2"/>
    <dgm:cxn modelId="{2D4E612E-EFBB-451F-B2C1-E33C7E6D8ECD}" type="presOf" srcId="{AC7DEDD3-0A2A-4D30-98DB-6B60D3FC8991}" destId="{66F35090-44FB-4B18-9AC8-65B786E00D0D}" srcOrd="0" destOrd="0" presId="urn:microsoft.com/office/officeart/2005/8/layout/pList2"/>
    <dgm:cxn modelId="{358DE149-E117-4861-BD7A-013F8440CEF7}" type="presOf" srcId="{2B16C8DC-69CA-410E-BA47-3496FAD11387}" destId="{8C9A1EB8-B4D0-4581-8661-7C538302AC02}" srcOrd="0" destOrd="0" presId="urn:microsoft.com/office/officeart/2005/8/layout/pList2"/>
    <dgm:cxn modelId="{2B60426F-77C4-43E5-A63E-FCFB4AF6DFB0}" type="presOf" srcId="{658CF69D-9425-45ED-8652-9BF9E373403B}" destId="{C9DBF77A-0F9B-4BC0-8641-E7AD6A7CE200}" srcOrd="0" destOrd="0" presId="urn:microsoft.com/office/officeart/2005/8/layout/pList2"/>
    <dgm:cxn modelId="{A6C243AE-12D9-4EE8-AA3E-87F7E1B98276}" type="presOf" srcId="{321D9918-5EF8-48D0-A467-5199A50EE747}" destId="{9B32F9C1-D418-4FE8-8B15-53EE734101F3}" srcOrd="0" destOrd="0" presId="urn:microsoft.com/office/officeart/2005/8/layout/pList2"/>
    <dgm:cxn modelId="{64A939C8-00B8-4AE6-A0DA-CB0F147DDCA6}" srcId="{321D9918-5EF8-48D0-A467-5199A50EE747}" destId="{AC7DEDD3-0A2A-4D30-98DB-6B60D3FC8991}" srcOrd="1" destOrd="0" parTransId="{16560C84-5C4A-4235-A80C-D1EB5C3A6904}" sibTransId="{EEDC9314-9405-409A-BF05-43DAA1E4571B}"/>
    <dgm:cxn modelId="{E8671FDE-CABE-4C44-971F-CA970BDB7463}" srcId="{321D9918-5EF8-48D0-A467-5199A50EE747}" destId="{5DDDD78B-E048-4962-849F-1865F3D6429E}" srcOrd="2" destOrd="0" parTransId="{2BDB29A4-7AA6-427E-AC23-C7E1ED254038}" sibTransId="{F59A1DB9-0FE4-4E76-B296-81A46E1B5AFC}"/>
    <dgm:cxn modelId="{62E93371-13E9-43F8-A31C-576B27C6A083}" type="presParOf" srcId="{9B32F9C1-D418-4FE8-8B15-53EE734101F3}" destId="{98599EC0-C20D-46B6-9A4B-291CFACBA96B}" srcOrd="0" destOrd="0" presId="urn:microsoft.com/office/officeart/2005/8/layout/pList2"/>
    <dgm:cxn modelId="{BDAF84EF-0CB8-4F3C-8C04-9A1F0FF663B4}" type="presParOf" srcId="{9B32F9C1-D418-4FE8-8B15-53EE734101F3}" destId="{4A05DF1D-D6A0-4457-A65C-6628AEB084F9}" srcOrd="1" destOrd="0" presId="urn:microsoft.com/office/officeart/2005/8/layout/pList2"/>
    <dgm:cxn modelId="{51BCE451-33F2-4C50-BED4-ADD64F94C464}" type="presParOf" srcId="{4A05DF1D-D6A0-4457-A65C-6628AEB084F9}" destId="{B65B61F0-50A7-45A7-A926-CA7D9BCB57F0}" srcOrd="0" destOrd="0" presId="urn:microsoft.com/office/officeart/2005/8/layout/pList2"/>
    <dgm:cxn modelId="{2ABB95A8-FD93-4B74-B13E-E0F4175C5D96}" type="presParOf" srcId="{B65B61F0-50A7-45A7-A926-CA7D9BCB57F0}" destId="{C9DBF77A-0F9B-4BC0-8641-E7AD6A7CE200}" srcOrd="0" destOrd="0" presId="urn:microsoft.com/office/officeart/2005/8/layout/pList2"/>
    <dgm:cxn modelId="{BAF5A1D0-7197-4991-89D0-16ABFF069A5E}" type="presParOf" srcId="{B65B61F0-50A7-45A7-A926-CA7D9BCB57F0}" destId="{927A1850-163B-4CF6-B680-4F8533812A3C}" srcOrd="1" destOrd="0" presId="urn:microsoft.com/office/officeart/2005/8/layout/pList2"/>
    <dgm:cxn modelId="{C99DACA7-E046-4D6A-8130-EB0CC502B200}" type="presParOf" srcId="{B65B61F0-50A7-45A7-A926-CA7D9BCB57F0}" destId="{C5A80C64-E2FF-4185-A7F9-240792CA9AF7}" srcOrd="2" destOrd="0" presId="urn:microsoft.com/office/officeart/2005/8/layout/pList2"/>
    <dgm:cxn modelId="{3D1F77E0-F87F-45EE-B32D-8A19FEFF4143}" type="presParOf" srcId="{4A05DF1D-D6A0-4457-A65C-6628AEB084F9}" destId="{8C9A1EB8-B4D0-4581-8661-7C538302AC02}" srcOrd="1" destOrd="0" presId="urn:microsoft.com/office/officeart/2005/8/layout/pList2"/>
    <dgm:cxn modelId="{5256DEAB-3992-41C3-B57C-18E2681E5EAB}" type="presParOf" srcId="{4A05DF1D-D6A0-4457-A65C-6628AEB084F9}" destId="{BB20AD58-7CBF-47BE-8990-5244D49518D0}" srcOrd="2" destOrd="0" presId="urn:microsoft.com/office/officeart/2005/8/layout/pList2"/>
    <dgm:cxn modelId="{25A4196B-7D60-4117-8D10-D56F45F5F396}" type="presParOf" srcId="{BB20AD58-7CBF-47BE-8990-5244D49518D0}" destId="{66F35090-44FB-4B18-9AC8-65B786E00D0D}" srcOrd="0" destOrd="0" presId="urn:microsoft.com/office/officeart/2005/8/layout/pList2"/>
    <dgm:cxn modelId="{7AEF77E7-9BAB-4700-B0B5-394A981B0DAE}" type="presParOf" srcId="{BB20AD58-7CBF-47BE-8990-5244D49518D0}" destId="{F993AA90-4087-437D-A4E0-9FEF5712B792}" srcOrd="1" destOrd="0" presId="urn:microsoft.com/office/officeart/2005/8/layout/pList2"/>
    <dgm:cxn modelId="{94A948B1-B86D-4458-B9CC-F3BB9566E6B1}" type="presParOf" srcId="{BB20AD58-7CBF-47BE-8990-5244D49518D0}" destId="{6B26EDF8-8571-484D-A603-5F960C7E0CCB}" srcOrd="2" destOrd="0" presId="urn:microsoft.com/office/officeart/2005/8/layout/pList2"/>
    <dgm:cxn modelId="{A91236B8-78B5-4136-A674-9A1D0A03DBD1}" type="presParOf" srcId="{4A05DF1D-D6A0-4457-A65C-6628AEB084F9}" destId="{9C5E1BEA-19E5-430B-9D25-6F009DA047A0}" srcOrd="3" destOrd="0" presId="urn:microsoft.com/office/officeart/2005/8/layout/pList2"/>
    <dgm:cxn modelId="{EEFD0378-D48E-4530-B0DC-D076B4C8773E}" type="presParOf" srcId="{4A05DF1D-D6A0-4457-A65C-6628AEB084F9}" destId="{46D3057B-1CDD-4E84-8158-3CA69B5FB63E}" srcOrd="4" destOrd="0" presId="urn:microsoft.com/office/officeart/2005/8/layout/pList2"/>
    <dgm:cxn modelId="{AF89A48F-D4A0-49CF-86EC-8F991B933B27}" type="presParOf" srcId="{46D3057B-1CDD-4E84-8158-3CA69B5FB63E}" destId="{455E96A8-45B6-46A8-85F0-B7C4D991E0EB}" srcOrd="0" destOrd="0" presId="urn:microsoft.com/office/officeart/2005/8/layout/pList2"/>
    <dgm:cxn modelId="{0E55AB7F-D6E0-46E6-A346-1172E817B84A}" type="presParOf" srcId="{46D3057B-1CDD-4E84-8158-3CA69B5FB63E}" destId="{85087369-51FA-4B8D-BD1A-2B41E1E5AD76}" srcOrd="1" destOrd="0" presId="urn:microsoft.com/office/officeart/2005/8/layout/pList2"/>
    <dgm:cxn modelId="{F5823946-EC17-42C2-802F-01DC0858C25B}" type="presParOf" srcId="{46D3057B-1CDD-4E84-8158-3CA69B5FB63E}" destId="{E4186234-FFA4-4D2F-8BC3-46C45EC8AAB8}"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99EC0-C20D-46B6-9A4B-291CFACBA96B}">
      <dsp:nvSpPr>
        <dsp:cNvPr id="0" name=""/>
        <dsp:cNvSpPr/>
      </dsp:nvSpPr>
      <dsp:spPr>
        <a:xfrm>
          <a:off x="66771" y="277587"/>
          <a:ext cx="7994456" cy="1883225"/>
        </a:xfrm>
        <a:prstGeom prst="roundRect">
          <a:avLst>
            <a:gd name="adj" fmla="val 10000"/>
          </a:avLst>
        </a:prstGeom>
        <a:solidFill>
          <a:srgbClr val="F0BEBE">
            <a:alpha val="29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A80C64-E2FF-4185-A7F9-240792CA9AF7}">
      <dsp:nvSpPr>
        <dsp:cNvPr id="0" name=""/>
        <dsp:cNvSpPr/>
      </dsp:nvSpPr>
      <dsp:spPr>
        <a:xfrm>
          <a:off x="40120" y="259235"/>
          <a:ext cx="2385413" cy="1887921"/>
        </a:xfrm>
        <a:prstGeom prst="roundRect">
          <a:avLst>
            <a:gd name="adj" fmla="val 10000"/>
          </a:avLst>
        </a:prstGeom>
        <a:blipFill>
          <a:blip xmlns:r="http://schemas.openxmlformats.org/officeDocument/2006/relationships" r:embed="rId1"/>
          <a:srcRect/>
          <a:stretch>
            <a:fillRect l="-6000" r="-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9DBF77A-0F9B-4BC0-8641-E7AD6A7CE200}">
      <dsp:nvSpPr>
        <dsp:cNvPr id="0" name=""/>
        <dsp:cNvSpPr/>
      </dsp:nvSpPr>
      <dsp:spPr>
        <a:xfrm rot="10800000">
          <a:off x="64971" y="2155215"/>
          <a:ext cx="2255898" cy="3313579"/>
        </a:xfrm>
        <a:prstGeom prst="round2SameRect">
          <a:avLst>
            <a:gd name="adj1" fmla="val 10500"/>
            <a:gd name="adj2" fmla="val 0"/>
          </a:avLst>
        </a:prstGeom>
        <a:solidFill>
          <a:srgbClr val="A80000">
            <a:alpha val="75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zh-CN" altLang="en-US" sz="1400" b="0" i="0" kern="1200" dirty="0">
              <a:latin typeface="宋体" panose="02010600030101010101" pitchFamily="2" charset="-122"/>
              <a:ea typeface="宋体" panose="02010600030101010101" pitchFamily="2" charset="-122"/>
            </a:rPr>
            <a:t>在</a:t>
          </a:r>
          <a:r>
            <a:rPr lang="en-US" altLang="en-US" sz="1400" b="0" i="0" kern="1200" dirty="0">
              <a:latin typeface="宋体" panose="02010600030101010101" pitchFamily="2" charset="-122"/>
              <a:ea typeface="宋体" panose="02010600030101010101" pitchFamily="2" charset="-122"/>
            </a:rPr>
            <a:t>2000</a:t>
          </a:r>
          <a:r>
            <a:rPr lang="zh-CN" altLang="en-US" sz="1400" b="0" i="0" kern="1200" dirty="0">
              <a:latin typeface="宋体" panose="02010600030101010101" pitchFamily="2" charset="-122"/>
              <a:ea typeface="宋体" panose="02010600030101010101" pitchFamily="2" charset="-122"/>
            </a:rPr>
            <a:t>年后，随着</a:t>
          </a:r>
          <a:r>
            <a:rPr lang="en-US" altLang="en-US" sz="1400" b="0" i="0" kern="1200" dirty="0">
              <a:latin typeface="宋体" panose="02010600030101010101" pitchFamily="2" charset="-122"/>
              <a:ea typeface="宋体" panose="02010600030101010101" pitchFamily="2" charset="-122"/>
            </a:rPr>
            <a:t>GPS/</a:t>
          </a:r>
          <a:r>
            <a:rPr lang="zh-CN" altLang="en-US" sz="1400" b="0" i="0" kern="1200" dirty="0">
              <a:latin typeface="宋体" panose="02010600030101010101" pitchFamily="2" charset="-122"/>
              <a:ea typeface="宋体" panose="02010600030101010101" pitchFamily="2" charset="-122"/>
            </a:rPr>
            <a:t>北斗卫星导航普及、高性能锂电池与无刷电机成熟，特别是智能手机产业拉低了传感器与芯片成本，为无人机制造扫清了障碍。以中国公司大疆为代表的企业，凭借在飞控系统等核心技术的积累和快速的迭代创新能力，迅速占领全球消费级市场主导地位。这标志着无人机从极客玩具转变为大众消费品和生产力工具。</a:t>
          </a:r>
          <a:endParaRPr lang="zh-CN" altLang="en-US" sz="1400" kern="1200" dirty="0">
            <a:latin typeface="宋体" panose="02010600030101010101" pitchFamily="2" charset="-122"/>
            <a:ea typeface="宋体" panose="02010600030101010101" pitchFamily="2" charset="-122"/>
          </a:endParaRPr>
        </a:p>
      </dsp:txBody>
      <dsp:txXfrm rot="10800000">
        <a:off x="134348" y="2155215"/>
        <a:ext cx="2117144" cy="3244202"/>
      </dsp:txXfrm>
    </dsp:sp>
    <dsp:sp modelId="{6B26EDF8-8571-484D-A603-5F960C7E0CCB}">
      <dsp:nvSpPr>
        <dsp:cNvPr id="0" name=""/>
        <dsp:cNvSpPr/>
      </dsp:nvSpPr>
      <dsp:spPr>
        <a:xfrm>
          <a:off x="2848331" y="284819"/>
          <a:ext cx="2506694" cy="1905356"/>
        </a:xfrm>
        <a:prstGeom prst="roundRect">
          <a:avLst>
            <a:gd name="adj" fmla="val 10000"/>
          </a:avLst>
        </a:prstGeom>
        <a:blipFill>
          <a:blip xmlns:r="http://schemas.openxmlformats.org/officeDocument/2006/relationships" r:embed="rId2"/>
          <a:srcRect/>
          <a:stretch>
            <a:fillRect l="-17000" r="-1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F35090-44FB-4B18-9AC8-65B786E00D0D}">
      <dsp:nvSpPr>
        <dsp:cNvPr id="0" name=""/>
        <dsp:cNvSpPr/>
      </dsp:nvSpPr>
      <dsp:spPr>
        <a:xfrm rot="10800000">
          <a:off x="2974373" y="2286115"/>
          <a:ext cx="2286778" cy="3183312"/>
        </a:xfrm>
        <a:prstGeom prst="round2SameRect">
          <a:avLst>
            <a:gd name="adj1" fmla="val 10500"/>
            <a:gd name="adj2" fmla="val 0"/>
          </a:avLst>
        </a:prstGeom>
        <a:solidFill>
          <a:srgbClr val="A80000">
            <a:alpha val="75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zh-CN" altLang="en-US" sz="1400" b="0" i="0" kern="1200" dirty="0">
              <a:latin typeface="宋体" panose="02010600030101010101" pitchFamily="2" charset="-122"/>
              <a:ea typeface="宋体" panose="02010600030101010101" pitchFamily="2" charset="-122"/>
            </a:rPr>
            <a:t>工业无人机是从消费级航拍中分化出的专业力量。它通过专用平台、任务载荷及行业软件，深度赋能实体经济。已在农业植保、电力巡检、地理测绘、应急物流等领域替代高危、低效的人工作业，成为标准生产工具。</a:t>
          </a:r>
          <a:r>
            <a:rPr lang="zh-CN" altLang="en-US" sz="1400" b="0" i="0" kern="1200" dirty="0"/>
            <a:t>并正向智能化、集群化系统演进，成为低空经济的关键生产力工具。</a:t>
          </a:r>
          <a:endParaRPr lang="zh-CN" altLang="en-US" sz="1400" kern="1200" dirty="0">
            <a:latin typeface="宋体" panose="02010600030101010101" pitchFamily="2" charset="-122"/>
            <a:ea typeface="宋体" panose="02010600030101010101" pitchFamily="2" charset="-122"/>
          </a:endParaRPr>
        </a:p>
      </dsp:txBody>
      <dsp:txXfrm rot="10800000">
        <a:off x="3044699" y="2286115"/>
        <a:ext cx="2146126" cy="3112986"/>
      </dsp:txXfrm>
    </dsp:sp>
    <dsp:sp modelId="{E4186234-FFA4-4D2F-8BC3-46C45EC8AAB8}">
      <dsp:nvSpPr>
        <dsp:cNvPr id="0" name=""/>
        <dsp:cNvSpPr/>
      </dsp:nvSpPr>
      <dsp:spPr>
        <a:xfrm>
          <a:off x="5772755" y="235479"/>
          <a:ext cx="2277887" cy="1904265"/>
        </a:xfrm>
        <a:prstGeom prst="roundRect">
          <a:avLst>
            <a:gd name="adj" fmla="val 10000"/>
          </a:avLst>
        </a:prstGeom>
        <a:blipFill>
          <a:blip xmlns:r="http://schemas.openxmlformats.org/officeDocument/2006/relationships" r:embed="rId3"/>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5E96A8-45B6-46A8-85F0-B7C4D991E0EB}">
      <dsp:nvSpPr>
        <dsp:cNvPr id="0" name=""/>
        <dsp:cNvSpPr/>
      </dsp:nvSpPr>
      <dsp:spPr>
        <a:xfrm rot="10800000">
          <a:off x="5831574" y="2303021"/>
          <a:ext cx="2262277" cy="3115630"/>
        </a:xfrm>
        <a:prstGeom prst="round2SameRect">
          <a:avLst>
            <a:gd name="adj1" fmla="val 10500"/>
            <a:gd name="adj2" fmla="val 0"/>
          </a:avLst>
        </a:prstGeom>
        <a:solidFill>
          <a:srgbClr val="A80000">
            <a:alpha val="75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zh-CN" altLang="en-US" sz="1400" b="0" i="0" kern="1200" dirty="0">
              <a:latin typeface="宋体" panose="02010600030101010101" pitchFamily="2" charset="-122"/>
              <a:ea typeface="宋体" panose="02010600030101010101" pitchFamily="2" charset="-122"/>
            </a:rPr>
            <a:t>从工业无人机到载人飞行器，是低空经济从“生产工具”迈向“立体出行”的质变飞跃。以电动垂直起降为代表的飞行器，依托无人机已成熟的电动化、智能导航与集群控制技术，将应用场景拓展至城市空中交通、高端观光及应急救援等领域，标志着低空资源开发进入规模化载人新阶段，正重塑未来城市交通图景。</a:t>
          </a:r>
          <a:endParaRPr lang="zh-CN" altLang="en-US" sz="1400" kern="1200" dirty="0">
            <a:latin typeface="宋体" panose="02010600030101010101" pitchFamily="2" charset="-122"/>
            <a:ea typeface="宋体" panose="02010600030101010101" pitchFamily="2" charset="-122"/>
          </a:endParaRPr>
        </a:p>
      </dsp:txBody>
      <dsp:txXfrm rot="10800000">
        <a:off x="5901147" y="2303021"/>
        <a:ext cx="2123131" cy="3046057"/>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B3EC776-BA39-4E54-AF21-582D1D57CD3E}" type="datetimeFigureOut">
              <a:rPr lang="zh-CN" altLang="en-US" smtClean="0"/>
              <a:t>2025/12/16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8EB96A-9CCC-47CB-A273-8D97CBA51A2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3EC776-BA39-4E54-AF21-582D1D57CD3E}" type="datetimeFigureOut">
              <a:rPr lang="zh-CN" altLang="en-US" smtClean="0"/>
              <a:t>2025/12/16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EB96A-9CCC-47CB-A273-8D97CBA51A2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video" Target="../media/media1.mp4"/><Relationship Id="rId7" Type="http://schemas.openxmlformats.org/officeDocument/2006/relationships/image" Target="../media/image20.png"/><Relationship Id="rId2" Type="http://schemas.microsoft.com/office/2007/relationships/media" Target="../media/media1.mp4"/><Relationship Id="rId1" Type="http://schemas.openxmlformats.org/officeDocument/2006/relationships/tags" Target="../tags/tag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video" Target="../media/media2.mp4"/><Relationship Id="rId7" Type="http://schemas.openxmlformats.org/officeDocument/2006/relationships/image" Target="../media/image23.png"/><Relationship Id="rId2" Type="http://schemas.microsoft.com/office/2007/relationships/media" Target="../media/media2.mp4"/><Relationship Id="rId1" Type="http://schemas.openxmlformats.org/officeDocument/2006/relationships/tags" Target="../tags/tag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image" Target="../media/image26.sv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25.png"/><Relationship Id="rId17" Type="http://schemas.openxmlformats.org/officeDocument/2006/relationships/image" Target="../media/image14.png"/><Relationship Id="rId2" Type="http://schemas.openxmlformats.org/officeDocument/2006/relationships/tags" Target="../tags/tag13.xml"/><Relationship Id="rId16" Type="http://schemas.openxmlformats.org/officeDocument/2006/relationships/image" Target="../media/image13.pn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24.jpeg"/><Relationship Id="rId5" Type="http://schemas.openxmlformats.org/officeDocument/2006/relationships/tags" Target="../tags/tag16.xml"/><Relationship Id="rId15" Type="http://schemas.openxmlformats.org/officeDocument/2006/relationships/image" Target="../media/image28.svg"/><Relationship Id="rId10" Type="http://schemas.openxmlformats.org/officeDocument/2006/relationships/slideLayout" Target="../slideLayouts/slideLayout2.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jpe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1.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private/var/folders/f6/7nsh5b515ts31ks591qt51480000gn/T/com.kingsoft.wpsoffice.mac/picturecompress_20221217152405/output_1.jpgoutput_1"/>
          <p:cNvPicPr>
            <a:picLocks noChangeAspect="1"/>
          </p:cNvPicPr>
          <p:nvPr/>
        </p:nvPicPr>
        <p:blipFill rotWithShape="1">
          <a:blip r:embed="rId3"/>
          <a:srcRect/>
          <a:stretch>
            <a:fillRect/>
          </a:stretch>
        </p:blipFill>
        <p:spPr>
          <a:xfrm>
            <a:off x="-74000" y="0"/>
            <a:ext cx="12266000" cy="7070652"/>
          </a:xfrm>
          <a:prstGeom prst="rect">
            <a:avLst/>
          </a:prstGeom>
        </p:spPr>
      </p:pic>
      <p:sp>
        <p:nvSpPr>
          <p:cNvPr id="6" name="PA-矩形 5"/>
          <p:cNvSpPr/>
          <p:nvPr>
            <p:custDataLst>
              <p:tags r:id="rId1"/>
            </p:custDataLst>
          </p:nvPr>
        </p:nvSpPr>
        <p:spPr>
          <a:xfrm>
            <a:off x="609600" y="419100"/>
            <a:ext cx="10972800" cy="6019800"/>
          </a:xfrm>
          <a:prstGeom prst="rect">
            <a:avLst/>
          </a:prstGeom>
          <a:solidFill>
            <a:srgbClr val="7A0000">
              <a:alpha val="84706"/>
            </a:srgbClr>
          </a:solidFill>
          <a:ln>
            <a:solidFill>
              <a:srgbClr val="7A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2" name="标题 1"/>
          <p:cNvSpPr>
            <a:spLocks noGrp="1"/>
          </p:cNvSpPr>
          <p:nvPr>
            <p:ph type="ctrTitle"/>
          </p:nvPr>
        </p:nvSpPr>
        <p:spPr>
          <a:xfrm>
            <a:off x="1440180" y="770731"/>
            <a:ext cx="9311640" cy="3489413"/>
          </a:xfrm>
        </p:spPr>
        <p:txBody>
          <a:bodyPr>
            <a:normAutofit/>
          </a:bodyPr>
          <a:lstStyle/>
          <a:p>
            <a:pPr algn="l">
              <a:lnSpc>
                <a:spcPct val="100000"/>
              </a:lnSpc>
            </a:pPr>
            <a:r>
              <a:rPr lang="zh-CN" altLang="en-US" sz="5400" b="1" dirty="0">
                <a:solidFill>
                  <a:schemeClr val="bg1"/>
                </a:solidFill>
                <a:latin typeface="华文宋体" panose="02010600040101010101" pitchFamily="2" charset="-122"/>
                <a:ea typeface="华文宋体" panose="02010600040101010101" pitchFamily="2" charset="-122"/>
              </a:rPr>
              <a:t>从“无人机”到“新天地”</a:t>
            </a:r>
            <a:br>
              <a:rPr lang="en-US" altLang="zh-CN" sz="5400" b="1" dirty="0">
                <a:solidFill>
                  <a:schemeClr val="bg1"/>
                </a:solidFill>
                <a:latin typeface="华文宋体" panose="02010600040101010101" pitchFamily="2" charset="-122"/>
                <a:ea typeface="华文宋体" panose="02010600040101010101" pitchFamily="2" charset="-122"/>
              </a:rPr>
            </a:br>
            <a:r>
              <a:rPr lang="en-US" altLang="zh-CN" sz="5400" b="1" dirty="0">
                <a:solidFill>
                  <a:schemeClr val="bg1"/>
                </a:solidFill>
                <a:latin typeface="华文宋体" panose="02010600040101010101" pitchFamily="2" charset="-122"/>
                <a:ea typeface="华文宋体" panose="02010600040101010101" pitchFamily="2" charset="-122"/>
              </a:rPr>
              <a:t>——</a:t>
            </a:r>
            <a:r>
              <a:rPr lang="zh-CN" altLang="en-US" sz="3600" b="1" dirty="0">
                <a:solidFill>
                  <a:schemeClr val="bg1"/>
                </a:solidFill>
                <a:latin typeface="华文宋体" panose="02010600040101010101" pitchFamily="2" charset="-122"/>
                <a:ea typeface="华文宋体" panose="02010600040101010101" pitchFamily="2" charset="-122"/>
              </a:rPr>
              <a:t>用马原视角解锁低空经济蓝海</a:t>
            </a:r>
            <a:endParaRPr lang="zh-CN" altLang="en-US" sz="5400" b="1" dirty="0">
              <a:solidFill>
                <a:schemeClr val="bg1"/>
              </a:solidFill>
              <a:latin typeface="华文宋体" panose="02010600040101010101" pitchFamily="2" charset="-122"/>
              <a:ea typeface="华文宋体" panose="02010600040101010101" pitchFamily="2" charset="-122"/>
            </a:endParaRPr>
          </a:p>
        </p:txBody>
      </p:sp>
      <p:sp>
        <p:nvSpPr>
          <p:cNvPr id="3" name="副标题 2"/>
          <p:cNvSpPr>
            <a:spLocks noGrp="1"/>
          </p:cNvSpPr>
          <p:nvPr>
            <p:ph type="subTitle" idx="1"/>
          </p:nvPr>
        </p:nvSpPr>
        <p:spPr>
          <a:xfrm>
            <a:off x="7388352" y="4550363"/>
            <a:ext cx="3557553" cy="1758997"/>
          </a:xfrm>
        </p:spPr>
        <p:txBody>
          <a:bodyPr>
            <a:normAutofit fontScale="85000" lnSpcReduction="20000"/>
          </a:bodyPr>
          <a:lstStyle/>
          <a:p>
            <a:pPr algn="l"/>
            <a:r>
              <a:rPr lang="zh-CN" altLang="en-US" sz="1800" dirty="0">
                <a:solidFill>
                  <a:schemeClr val="bg1"/>
                </a:solidFill>
                <a:latin typeface="华文宋体" panose="02010600040101010101" pitchFamily="2" charset="-122"/>
                <a:ea typeface="华文宋体" panose="02010600040101010101" pitchFamily="2" charset="-122"/>
              </a:rPr>
              <a:t>演讲        ：张耀丰  魏静轩；</a:t>
            </a:r>
            <a:endParaRPr lang="en-US" altLang="zh-CN" sz="1800" dirty="0">
              <a:solidFill>
                <a:schemeClr val="bg1"/>
              </a:solidFill>
              <a:latin typeface="华文宋体" panose="02010600040101010101" pitchFamily="2" charset="-122"/>
              <a:ea typeface="华文宋体" panose="02010600040101010101" pitchFamily="2" charset="-122"/>
            </a:endParaRPr>
          </a:p>
          <a:p>
            <a:pPr algn="l"/>
            <a:r>
              <a:rPr lang="zh-CN" altLang="en-US" sz="1800" dirty="0">
                <a:solidFill>
                  <a:schemeClr val="bg1"/>
                </a:solidFill>
                <a:latin typeface="华文宋体" panose="02010600040101010101" pitchFamily="2" charset="-122"/>
                <a:ea typeface="华文宋体" panose="02010600040101010101" pitchFamily="2" charset="-122"/>
              </a:rPr>
              <a:t>第一部分：王晨曦；</a:t>
            </a:r>
            <a:endParaRPr lang="en-US" altLang="zh-CN" sz="1800" dirty="0">
              <a:solidFill>
                <a:schemeClr val="bg1"/>
              </a:solidFill>
              <a:latin typeface="华文宋体" panose="02010600040101010101" pitchFamily="2" charset="-122"/>
              <a:ea typeface="华文宋体" panose="02010600040101010101" pitchFamily="2" charset="-122"/>
            </a:endParaRPr>
          </a:p>
          <a:p>
            <a:pPr algn="l"/>
            <a:r>
              <a:rPr lang="zh-CN" altLang="en-US" sz="1800" dirty="0">
                <a:solidFill>
                  <a:schemeClr val="bg1"/>
                </a:solidFill>
                <a:latin typeface="华文宋体" panose="02010600040101010101" pitchFamily="2" charset="-122"/>
                <a:ea typeface="华文宋体" panose="02010600040101010101" pitchFamily="2" charset="-122"/>
              </a:rPr>
              <a:t>第二部分：张宇航  王苏浙；</a:t>
            </a:r>
            <a:endParaRPr lang="en-US" altLang="zh-CN" sz="1800" dirty="0">
              <a:solidFill>
                <a:schemeClr val="bg1"/>
              </a:solidFill>
              <a:latin typeface="华文宋体" panose="02010600040101010101" pitchFamily="2" charset="-122"/>
              <a:ea typeface="华文宋体" panose="02010600040101010101" pitchFamily="2" charset="-122"/>
            </a:endParaRPr>
          </a:p>
          <a:p>
            <a:pPr algn="l"/>
            <a:r>
              <a:rPr lang="zh-CN" altLang="en-US" sz="1800" dirty="0">
                <a:solidFill>
                  <a:schemeClr val="bg1"/>
                </a:solidFill>
                <a:latin typeface="华文宋体" panose="02010600040101010101" pitchFamily="2" charset="-122"/>
                <a:ea typeface="华文宋体" panose="02010600040101010101" pitchFamily="2" charset="-122"/>
              </a:rPr>
              <a:t>第三部分：郭荣辉  赵时康；</a:t>
            </a:r>
            <a:endParaRPr lang="en-US" altLang="zh-CN" sz="1800" dirty="0">
              <a:solidFill>
                <a:schemeClr val="bg1"/>
              </a:solidFill>
              <a:latin typeface="华文宋体" panose="02010600040101010101" pitchFamily="2" charset="-122"/>
              <a:ea typeface="华文宋体" panose="02010600040101010101" pitchFamily="2" charset="-122"/>
            </a:endParaRPr>
          </a:p>
          <a:p>
            <a:pPr algn="l"/>
            <a:r>
              <a:rPr lang="zh-CN" altLang="en-US" sz="1800" dirty="0">
                <a:solidFill>
                  <a:schemeClr val="bg1"/>
                </a:solidFill>
                <a:latin typeface="华文宋体" panose="02010600040101010101" pitchFamily="2" charset="-122"/>
                <a:ea typeface="华文宋体" panose="02010600040101010101" pitchFamily="2" charset="-122"/>
              </a:rPr>
              <a:t>第四部分：郭辰熙；</a:t>
            </a:r>
            <a:endParaRPr lang="en-US" altLang="zh-CN" sz="1800" dirty="0">
              <a:solidFill>
                <a:schemeClr val="bg1"/>
              </a:solidFill>
              <a:latin typeface="华文宋体" panose="02010600040101010101" pitchFamily="2" charset="-122"/>
              <a:ea typeface="华文宋体" panose="02010600040101010101" pitchFamily="2" charset="-122"/>
            </a:endParaRPr>
          </a:p>
          <a:p>
            <a:pPr algn="l"/>
            <a:r>
              <a:rPr lang="zh-CN" altLang="en-US" sz="1800" dirty="0">
                <a:solidFill>
                  <a:schemeClr val="bg1"/>
                </a:solidFill>
                <a:latin typeface="华文宋体" panose="02010600040101010101" pitchFamily="2" charset="-122"/>
                <a:ea typeface="华文宋体" panose="02010600040101010101" pitchFamily="2" charset="-122"/>
              </a:rPr>
              <a:t>汇总        ：郭辰熙；</a:t>
            </a:r>
            <a:endParaRPr lang="en-US" altLang="zh-CN" sz="1800" dirty="0">
              <a:solidFill>
                <a:schemeClr val="bg1"/>
              </a:solidFill>
              <a:latin typeface="华文宋体" panose="02010600040101010101" pitchFamily="2" charset="-122"/>
              <a:ea typeface="华文宋体" panose="02010600040101010101" pitchFamily="2" charset="-122"/>
            </a:endParaRPr>
          </a:p>
          <a:p>
            <a:pPr algn="l"/>
            <a:endParaRPr lang="zh-CN" altLang="en-US" sz="1800" dirty="0">
              <a:solidFill>
                <a:schemeClr val="bg1"/>
              </a:solidFill>
              <a:latin typeface="华文宋体" panose="02010600040101010101" pitchFamily="2" charset="-122"/>
              <a:ea typeface="华文宋体" panose="02010600040101010101" pitchFamily="2" charset="-122"/>
            </a:endParaRPr>
          </a:p>
        </p:txBody>
      </p:sp>
      <p:pic>
        <p:nvPicPr>
          <p:cNvPr id="8" name="图片 7" descr="/private/var/folders/f6/7nsh5b515ts31ks591qt51480000gn/T/com.kingsoft.wpsoffice.mac/picturecompress_20221217152405/output_2.pngoutput_2"/>
          <p:cNvPicPr>
            <a:picLocks noChangeAspect="1"/>
          </p:cNvPicPr>
          <p:nvPr/>
        </p:nvPicPr>
        <p:blipFill>
          <a:blip r:embed="rId4"/>
          <a:stretch>
            <a:fillRect/>
          </a:stretch>
        </p:blipFill>
        <p:spPr>
          <a:xfrm>
            <a:off x="914400" y="734924"/>
            <a:ext cx="2896260" cy="774877"/>
          </a:xfrm>
          <a:prstGeom prst="rect">
            <a:avLst/>
          </a:prstGeom>
        </p:spPr>
      </p:pic>
      <p:cxnSp>
        <p:nvCxnSpPr>
          <p:cNvPr id="10" name="直接连接符 9"/>
          <p:cNvCxnSpPr/>
          <p:nvPr/>
        </p:nvCxnSpPr>
        <p:spPr>
          <a:xfrm>
            <a:off x="609600" y="2087880"/>
            <a:ext cx="55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096000" y="4444709"/>
            <a:ext cx="541496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330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private/var/folders/f6/7nsh5b515ts31ks591qt51480000gn/T/com.kingsoft.wpsoffice.mac/picturecompress_20221217152405/output_3.jpgoutput_3"/>
          <p:cNvPicPr>
            <a:picLocks noChangeAspect="1"/>
          </p:cNvPicPr>
          <p:nvPr/>
        </p:nvPicPr>
        <p:blipFill rotWithShape="1">
          <a:blip r:embed="rId3"/>
          <a:srcRect/>
          <a:stretch>
            <a:fillRect/>
          </a:stretch>
        </p:blipFill>
        <p:spPr>
          <a:xfrm>
            <a:off x="0" y="0"/>
            <a:ext cx="12192000" cy="6857998"/>
          </a:xfrm>
          <a:prstGeom prst="rect">
            <a:avLst/>
          </a:prstGeom>
        </p:spPr>
      </p:pic>
      <p:sp>
        <p:nvSpPr>
          <p:cNvPr id="3" name="PA-矩形 5"/>
          <p:cNvSpPr/>
          <p:nvPr>
            <p:custDataLst>
              <p:tags r:id="rId1"/>
            </p:custDataLst>
          </p:nvPr>
        </p:nvSpPr>
        <p:spPr>
          <a:xfrm>
            <a:off x="609600" y="-1"/>
            <a:ext cx="4239802" cy="6857999"/>
          </a:xfrm>
          <a:prstGeom prst="rect">
            <a:avLst/>
          </a:prstGeom>
          <a:solidFill>
            <a:srgbClr val="7A0000">
              <a:alpha val="85098"/>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a:xfrm>
            <a:off x="1719749" y="2620165"/>
            <a:ext cx="2019503" cy="2396491"/>
          </a:xfrm>
        </p:spPr>
        <p:txBody>
          <a:bodyPr>
            <a:normAutofit/>
          </a:bodyPr>
          <a:lstStyle/>
          <a:p>
            <a:pPr>
              <a:lnSpc>
                <a:spcPct val="100000"/>
              </a:lnSpc>
            </a:pPr>
            <a:r>
              <a:rPr lang="zh-CN" altLang="en-US" sz="6700" b="1" dirty="0">
                <a:solidFill>
                  <a:schemeClr val="bg1"/>
                </a:solidFill>
                <a:latin typeface="华文宋体" panose="02010600040101010101" pitchFamily="2" charset="-122"/>
                <a:ea typeface="华文宋体" panose="02010600040101010101" pitchFamily="2" charset="-122"/>
              </a:rPr>
              <a:t>目录</a:t>
            </a:r>
            <a:br>
              <a:rPr lang="en-US" altLang="zh-CN" sz="7200" b="1" dirty="0">
                <a:solidFill>
                  <a:schemeClr val="bg1"/>
                </a:solidFill>
              </a:rPr>
            </a:br>
            <a:endParaRPr lang="zh-CN" altLang="en-US" sz="2700" b="1" dirty="0">
              <a:solidFill>
                <a:schemeClr val="bg1"/>
              </a:solidFill>
            </a:endParaRPr>
          </a:p>
        </p:txBody>
      </p:sp>
      <p:sp>
        <p:nvSpPr>
          <p:cNvPr id="9" name="文本框 8"/>
          <p:cNvSpPr txBox="1"/>
          <p:nvPr/>
        </p:nvSpPr>
        <p:spPr>
          <a:xfrm>
            <a:off x="5257800" y="2095997"/>
            <a:ext cx="6830567" cy="760593"/>
          </a:xfrm>
          <a:prstGeom prst="rect">
            <a:avLst/>
          </a:prstGeom>
          <a:noFill/>
        </p:spPr>
        <p:txBody>
          <a:bodyPr wrap="square" rtlCol="0">
            <a:spAutoFit/>
          </a:bodyPr>
          <a:lstStyle/>
          <a:p>
            <a:pPr marL="571500" indent="-571500">
              <a:lnSpc>
                <a:spcPct val="150000"/>
              </a:lnSpc>
              <a:buFont typeface="Wingdings" panose="05000000000000000000" pitchFamily="2" charset="2"/>
              <a:buChar char="u"/>
            </a:pPr>
            <a:r>
              <a:rPr lang="zh-CN" altLang="en-US" sz="3200" b="1" dirty="0">
                <a:solidFill>
                  <a:schemeClr val="bg1"/>
                </a:solidFill>
                <a:latin typeface="华文新魏" panose="02010800040101010101" pitchFamily="2" charset="-122"/>
                <a:ea typeface="华文新魏" panose="02010800040101010101" pitchFamily="2" charset="-122"/>
              </a:rPr>
              <a:t>第一部分 </a:t>
            </a:r>
            <a:r>
              <a:rPr lang="en-US" altLang="zh-CN" sz="3200" b="1" dirty="0">
                <a:solidFill>
                  <a:schemeClr val="bg1"/>
                </a:solidFill>
                <a:latin typeface="华文新魏" panose="02010800040101010101" pitchFamily="2" charset="-122"/>
                <a:ea typeface="华文新魏" panose="02010800040101010101" pitchFamily="2" charset="-122"/>
              </a:rPr>
              <a:t>| </a:t>
            </a:r>
            <a:r>
              <a:rPr lang="zh-CN" altLang="en-US" sz="3200" b="1" dirty="0">
                <a:solidFill>
                  <a:schemeClr val="bg1"/>
                </a:solidFill>
                <a:latin typeface="华文新魏" panose="02010800040101010101" pitchFamily="2" charset="-122"/>
                <a:ea typeface="华文新魏" panose="02010800040101010101" pitchFamily="2" charset="-122"/>
              </a:rPr>
              <a:t>低空经济的发展</a:t>
            </a:r>
            <a:endParaRPr lang="en-US" altLang="zh-CN" sz="3200" b="1" dirty="0">
              <a:solidFill>
                <a:schemeClr val="bg1"/>
              </a:solidFill>
              <a:latin typeface="华文新魏" panose="02010800040101010101" pitchFamily="2" charset="-122"/>
              <a:ea typeface="华文新魏" panose="02010800040101010101" pitchFamily="2" charset="-122"/>
            </a:endParaRPr>
          </a:p>
        </p:txBody>
      </p:sp>
      <p:sp>
        <p:nvSpPr>
          <p:cNvPr id="15" name="文本框 14"/>
          <p:cNvSpPr txBox="1"/>
          <p:nvPr/>
        </p:nvSpPr>
        <p:spPr>
          <a:xfrm>
            <a:off x="5257800" y="2807893"/>
            <a:ext cx="7936786" cy="760593"/>
          </a:xfrm>
          <a:prstGeom prst="rect">
            <a:avLst/>
          </a:prstGeom>
          <a:noFill/>
        </p:spPr>
        <p:txBody>
          <a:bodyPr wrap="square">
            <a:spAutoFit/>
          </a:bodyPr>
          <a:lstStyle/>
          <a:p>
            <a:pPr marL="571500" indent="-571500">
              <a:lnSpc>
                <a:spcPct val="150000"/>
              </a:lnSpc>
              <a:buFont typeface="Wingdings" panose="05000000000000000000" pitchFamily="2" charset="2"/>
              <a:buChar char="u"/>
            </a:pPr>
            <a:r>
              <a:rPr lang="zh-CN" altLang="en-US" sz="3200" b="1" dirty="0">
                <a:solidFill>
                  <a:schemeClr val="bg1"/>
                </a:solidFill>
                <a:latin typeface="华文新魏" panose="02010800040101010101" pitchFamily="2" charset="-122"/>
                <a:ea typeface="华文新魏" panose="02010800040101010101" pitchFamily="2" charset="-122"/>
              </a:rPr>
              <a:t>第二部分 </a:t>
            </a:r>
            <a:r>
              <a:rPr lang="en-US" altLang="zh-CN" sz="3200" b="1" dirty="0">
                <a:solidFill>
                  <a:schemeClr val="bg1"/>
                </a:solidFill>
                <a:latin typeface="华文新魏" panose="02010800040101010101" pitchFamily="2" charset="-122"/>
                <a:ea typeface="华文新魏" panose="02010800040101010101" pitchFamily="2" charset="-122"/>
              </a:rPr>
              <a:t>| </a:t>
            </a:r>
            <a:r>
              <a:rPr lang="zh-CN" altLang="en-US" sz="3200" b="1" dirty="0">
                <a:solidFill>
                  <a:schemeClr val="bg1"/>
                </a:solidFill>
                <a:latin typeface="华文新魏" panose="02010800040101010101" pitchFamily="2" charset="-122"/>
                <a:ea typeface="华文新魏" panose="02010800040101010101" pitchFamily="2" charset="-122"/>
              </a:rPr>
              <a:t>无人机的应用</a:t>
            </a:r>
            <a:endParaRPr lang="en-US" altLang="zh-CN" sz="3200" b="1" dirty="0">
              <a:solidFill>
                <a:schemeClr val="bg1"/>
              </a:solidFill>
              <a:latin typeface="华文新魏" panose="02010800040101010101" pitchFamily="2" charset="-122"/>
              <a:ea typeface="华文新魏" panose="02010800040101010101" pitchFamily="2" charset="-122"/>
            </a:endParaRPr>
          </a:p>
        </p:txBody>
      </p:sp>
      <p:sp>
        <p:nvSpPr>
          <p:cNvPr id="17" name="文本框 16"/>
          <p:cNvSpPr txBox="1"/>
          <p:nvPr/>
        </p:nvSpPr>
        <p:spPr>
          <a:xfrm>
            <a:off x="5257800" y="3571348"/>
            <a:ext cx="8055255" cy="760593"/>
          </a:xfrm>
          <a:prstGeom prst="rect">
            <a:avLst/>
          </a:prstGeom>
          <a:noFill/>
        </p:spPr>
        <p:txBody>
          <a:bodyPr wrap="square">
            <a:spAutoFit/>
          </a:bodyPr>
          <a:lstStyle/>
          <a:p>
            <a:pPr marL="571500" indent="-571500">
              <a:lnSpc>
                <a:spcPct val="150000"/>
              </a:lnSpc>
              <a:buFont typeface="Wingdings" panose="05000000000000000000" pitchFamily="2" charset="2"/>
              <a:buChar char="u"/>
            </a:pPr>
            <a:r>
              <a:rPr lang="zh-CN" altLang="en-US" sz="3200" b="1" dirty="0">
                <a:solidFill>
                  <a:schemeClr val="bg1"/>
                </a:solidFill>
                <a:latin typeface="华文新魏" panose="02010800040101010101" pitchFamily="2" charset="-122"/>
                <a:ea typeface="华文新魏" panose="02010800040101010101" pitchFamily="2" charset="-122"/>
              </a:rPr>
              <a:t>第三部分</a:t>
            </a:r>
            <a:r>
              <a:rPr lang="en-US" altLang="zh-CN" sz="3200" b="1" dirty="0">
                <a:solidFill>
                  <a:schemeClr val="bg1"/>
                </a:solidFill>
                <a:latin typeface="华文新魏" panose="02010800040101010101" pitchFamily="2" charset="-122"/>
                <a:ea typeface="华文新魏" panose="02010800040101010101" pitchFamily="2" charset="-122"/>
              </a:rPr>
              <a:t>|</a:t>
            </a:r>
            <a:r>
              <a:rPr lang="zh-CN" altLang="en-US" sz="3200" b="1" dirty="0">
                <a:solidFill>
                  <a:schemeClr val="bg1"/>
                </a:solidFill>
                <a:latin typeface="华文新魏" panose="02010800040101010101" pitchFamily="2" charset="-122"/>
                <a:ea typeface="华文新魏" panose="02010800040101010101" pitchFamily="2" charset="-122"/>
              </a:rPr>
              <a:t>马原钥匙解锁发展密码</a:t>
            </a:r>
            <a:endParaRPr lang="en-US" altLang="zh-CN" sz="3200" b="1" dirty="0">
              <a:solidFill>
                <a:schemeClr val="bg1"/>
              </a:solidFill>
              <a:latin typeface="华文新魏" panose="02010800040101010101" pitchFamily="2" charset="-122"/>
              <a:ea typeface="华文新魏" panose="02010800040101010101" pitchFamily="2" charset="-122"/>
            </a:endParaRPr>
          </a:p>
        </p:txBody>
      </p:sp>
      <p:sp>
        <p:nvSpPr>
          <p:cNvPr id="19" name="文本框 18"/>
          <p:cNvSpPr txBox="1"/>
          <p:nvPr/>
        </p:nvSpPr>
        <p:spPr>
          <a:xfrm>
            <a:off x="5257800" y="4331941"/>
            <a:ext cx="7705889" cy="760593"/>
          </a:xfrm>
          <a:prstGeom prst="rect">
            <a:avLst/>
          </a:prstGeom>
          <a:noFill/>
        </p:spPr>
        <p:txBody>
          <a:bodyPr wrap="square">
            <a:spAutoFit/>
          </a:bodyPr>
          <a:lstStyle/>
          <a:p>
            <a:pPr marL="571500" indent="-571500">
              <a:lnSpc>
                <a:spcPct val="150000"/>
              </a:lnSpc>
              <a:buFont typeface="Wingdings" panose="05000000000000000000" pitchFamily="2" charset="2"/>
              <a:buChar char="u"/>
            </a:pPr>
            <a:r>
              <a:rPr lang="zh-CN" altLang="en-US" sz="3200" b="1" dirty="0">
                <a:solidFill>
                  <a:schemeClr val="bg1"/>
                </a:solidFill>
                <a:latin typeface="华文新魏" panose="02010800040101010101" pitchFamily="2" charset="-122"/>
                <a:ea typeface="华文新魏" panose="02010800040101010101" pitchFamily="2" charset="-122"/>
              </a:rPr>
              <a:t>第四部分 </a:t>
            </a:r>
            <a:r>
              <a:rPr lang="en-US" altLang="zh-CN" sz="3200" b="1" dirty="0">
                <a:solidFill>
                  <a:schemeClr val="bg1"/>
                </a:solidFill>
                <a:latin typeface="华文新魏" panose="02010800040101010101" pitchFamily="2" charset="-122"/>
                <a:ea typeface="华文新魏" panose="02010800040101010101" pitchFamily="2" charset="-122"/>
              </a:rPr>
              <a:t>| </a:t>
            </a:r>
            <a:r>
              <a:rPr lang="zh-CN" altLang="en-US" sz="3200" b="1" dirty="0">
                <a:solidFill>
                  <a:schemeClr val="bg1"/>
                </a:solidFill>
                <a:latin typeface="华文新魏" panose="02010800040101010101" pitchFamily="2" charset="-122"/>
                <a:ea typeface="华文新魏" panose="02010800040101010101" pitchFamily="2" charset="-122"/>
              </a:rPr>
              <a:t>总结与展望</a:t>
            </a:r>
            <a:endParaRPr lang="en-US" altLang="zh-CN" sz="3200" b="1" dirty="0">
              <a:solidFill>
                <a:schemeClr val="bg1"/>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160200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7" name="图片 6" descr="/private/var/folders/f6/7nsh5b515ts31ks591qt51480000gn/T/com.kingsoft.wpsoffice.mac/picturecompress_20221217152405/output_4.jpgoutput_4"/>
          <p:cNvPicPr>
            <a:picLocks noChangeAspect="1"/>
          </p:cNvPicPr>
          <p:nvPr/>
        </p:nvPicPr>
        <p:blipFill rotWithShape="1">
          <a:blip r:embed="rId3"/>
          <a:srcRect/>
          <a:stretch>
            <a:fillRect/>
          </a:stretch>
        </p:blipFill>
        <p:spPr>
          <a:xfrm>
            <a:off x="0" y="-148590"/>
            <a:ext cx="12192000" cy="7006590"/>
          </a:xfrm>
          <a:prstGeom prst="rect">
            <a:avLst/>
          </a:prstGeom>
        </p:spPr>
      </p:pic>
      <p:sp>
        <p:nvSpPr>
          <p:cNvPr id="4" name="PA-矩形 5"/>
          <p:cNvSpPr/>
          <p:nvPr>
            <p:custDataLst>
              <p:tags r:id="rId1"/>
            </p:custDataLst>
          </p:nvPr>
        </p:nvSpPr>
        <p:spPr>
          <a:xfrm>
            <a:off x="0" y="-148590"/>
            <a:ext cx="12192000" cy="7070652"/>
          </a:xfrm>
          <a:prstGeom prst="rect">
            <a:avLst/>
          </a:prstGeom>
          <a:solidFill>
            <a:srgbClr val="7A0000">
              <a:alpha val="85000"/>
            </a:srgbClr>
          </a:solidFill>
          <a:ln>
            <a:solidFill>
              <a:srgbClr val="9C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dirty="0"/>
          </a:p>
        </p:txBody>
      </p:sp>
      <p:sp>
        <p:nvSpPr>
          <p:cNvPr id="2" name="标题 1"/>
          <p:cNvSpPr>
            <a:spLocks noGrp="1"/>
          </p:cNvSpPr>
          <p:nvPr>
            <p:ph type="title"/>
          </p:nvPr>
        </p:nvSpPr>
        <p:spPr>
          <a:xfrm>
            <a:off x="6096000" y="1038225"/>
            <a:ext cx="4795463" cy="5755713"/>
          </a:xfrm>
        </p:spPr>
        <p:txBody>
          <a:bodyPr>
            <a:noAutofit/>
          </a:bodyPr>
          <a:lstStyle/>
          <a:p>
            <a:pPr algn="ctr"/>
            <a:r>
              <a:rPr lang="en-US" altLang="zh-CN" sz="480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38100" dist="38100" dir="2700000" algn="tl">
                    <a:srgbClr val="000000">
                      <a:alpha val="43137"/>
                    </a:srgbClr>
                  </a:outerShdw>
                </a:effectLst>
                <a:latin typeface="Imprint MT Shadow" panose="04020605060303030202" pitchFamily="82" charset="0"/>
              </a:rPr>
              <a:t>1</a:t>
            </a:r>
            <a:endParaRPr lang="zh-CN" altLang="en-US" sz="480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38100" dist="38100" dir="2700000" algn="tl">
                  <a:srgbClr val="000000">
                    <a:alpha val="43137"/>
                  </a:srgbClr>
                </a:outerShdw>
              </a:effectLst>
              <a:latin typeface="Imprint MT Shadow" panose="04020605060303030202" pitchFamily="82" charset="0"/>
            </a:endParaRPr>
          </a:p>
        </p:txBody>
      </p:sp>
      <p:sp>
        <p:nvSpPr>
          <p:cNvPr id="9" name="文本框 8"/>
          <p:cNvSpPr txBox="1"/>
          <p:nvPr/>
        </p:nvSpPr>
        <p:spPr>
          <a:xfrm>
            <a:off x="348343" y="132530"/>
            <a:ext cx="6757853" cy="1200329"/>
          </a:xfrm>
          <a:prstGeom prst="rect">
            <a:avLst/>
          </a:prstGeom>
          <a:noFill/>
        </p:spPr>
        <p:txBody>
          <a:bodyPr wrap="square" rtlCol="0">
            <a:spAutoFit/>
          </a:bodyPr>
          <a:lstStyle/>
          <a:p>
            <a:r>
              <a:rPr lang="zh-CN" altLang="en-US" sz="72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50800" dist="38100" dir="2700000" algn="tl" rotWithShape="0">
                    <a:prstClr val="black">
                      <a:alpha val="40000"/>
                    </a:prstClr>
                  </a:outerShdw>
                </a:effectLst>
                <a:latin typeface="华文宋体" panose="02010600040101010101" pitchFamily="2" charset="-122"/>
                <a:ea typeface="华文宋体" panose="02010600040101010101" pitchFamily="2" charset="-122"/>
              </a:rPr>
              <a:t>低空经济的发展</a:t>
            </a:r>
          </a:p>
        </p:txBody>
      </p:sp>
      <p:sp>
        <p:nvSpPr>
          <p:cNvPr id="3" name="文本框 2">
            <a:extLst>
              <a:ext uri="{FF2B5EF4-FFF2-40B4-BE49-F238E27FC236}">
                <a16:creationId xmlns:a16="http://schemas.microsoft.com/office/drawing/2014/main" id="{94960301-4DDC-60DD-8734-4DCA4A75F672}"/>
              </a:ext>
            </a:extLst>
          </p:cNvPr>
          <p:cNvSpPr txBox="1"/>
          <p:nvPr/>
        </p:nvSpPr>
        <p:spPr>
          <a:xfrm>
            <a:off x="1132114" y="2459504"/>
            <a:ext cx="4720046" cy="1938992"/>
          </a:xfrm>
          <a:prstGeom prst="rect">
            <a:avLst/>
          </a:prstGeom>
          <a:noFill/>
        </p:spPr>
        <p:txBody>
          <a:bodyPr wrap="square" rtlCol="0">
            <a:spAutoFit/>
          </a:bodyPr>
          <a:lstStyle/>
          <a:p>
            <a:r>
              <a:rPr lang="zh-CN" altLang="en-US" sz="2000" dirty="0">
                <a:solidFill>
                  <a:schemeClr val="bg1"/>
                </a:solidFill>
                <a:latin typeface="华文宋体" panose="02010600040101010101" pitchFamily="2" charset="-122"/>
                <a:ea typeface="华文宋体" panose="02010600040101010101" pitchFamily="2" charset="-122"/>
              </a:rPr>
              <a:t>低空经济是以民用有人驾驶和无人驾驶航空器（如无人机、直升机、</a:t>
            </a:r>
            <a:r>
              <a:rPr lang="en-US" altLang="zh-CN" sz="2000" dirty="0">
                <a:solidFill>
                  <a:schemeClr val="bg1"/>
                </a:solidFill>
                <a:latin typeface="华文宋体" panose="02010600040101010101" pitchFamily="2" charset="-122"/>
                <a:ea typeface="华文宋体" panose="02010600040101010101" pitchFamily="2" charset="-122"/>
              </a:rPr>
              <a:t>eVTOL</a:t>
            </a:r>
            <a:r>
              <a:rPr lang="zh-CN" altLang="en-US" sz="2000" dirty="0">
                <a:solidFill>
                  <a:schemeClr val="bg1"/>
                </a:solidFill>
                <a:latin typeface="华文宋体" panose="02010600040101010101" pitchFamily="2" charset="-122"/>
                <a:ea typeface="华文宋体" panose="02010600040101010101" pitchFamily="2" charset="-122"/>
              </a:rPr>
              <a:t>等）在低空空域内的各类飞行活动为牵引，辐射带动相关领域融合发展的综合性经济形态，其核心是将低空空域作为新型资源进行系统化开发和利用。</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399" y="128754"/>
            <a:ext cx="4111897" cy="663575"/>
          </a:xfrm>
        </p:spPr>
        <p:txBody>
          <a:bodyPr>
            <a:normAutofit fontScale="90000"/>
          </a:bodyPr>
          <a:lstStyle/>
          <a:p>
            <a:r>
              <a:rPr lang="zh-CN" altLang="en-US" sz="2800" b="1" dirty="0">
                <a:solidFill>
                  <a:schemeClr val="bg1"/>
                </a:solidFill>
                <a:latin typeface="华文新魏" panose="02010800040101010101" pitchFamily="2" charset="-122"/>
                <a:ea typeface="华文新魏" panose="02010800040101010101" pitchFamily="2" charset="-122"/>
              </a:rPr>
              <a:t>低空经济与马克思主义原理</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t="993" b="993"/>
          <a:stretch/>
        </p:blipFill>
        <p:spPr>
          <a:xfrm>
            <a:off x="158014" y="1649746"/>
            <a:ext cx="5040084" cy="4170304"/>
          </a:xfrm>
          <a:prstGeom prst="rect">
            <a:avLst/>
          </a:prstGeom>
        </p:spPr>
      </p:pic>
      <p:sp>
        <p:nvSpPr>
          <p:cNvPr id="21" name="流程图: 接点 20"/>
          <p:cNvSpPr/>
          <p:nvPr/>
        </p:nvSpPr>
        <p:spPr>
          <a:xfrm>
            <a:off x="5618380" y="1930769"/>
            <a:ext cx="770562" cy="800100"/>
          </a:xfrm>
          <a:prstGeom prst="flowChartConnector">
            <a:avLst/>
          </a:prstGeom>
          <a:solidFill>
            <a:srgbClr val="9C0000"/>
          </a:solidFill>
          <a:ln>
            <a:solidFill>
              <a:srgbClr val="7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流程图: 接点 21"/>
          <p:cNvSpPr/>
          <p:nvPr/>
        </p:nvSpPr>
        <p:spPr>
          <a:xfrm>
            <a:off x="5618380" y="3412691"/>
            <a:ext cx="770562" cy="800100"/>
          </a:xfrm>
          <a:prstGeom prst="flowChartConnector">
            <a:avLst/>
          </a:prstGeom>
          <a:solidFill>
            <a:srgbClr val="9C0000"/>
          </a:solidFill>
          <a:ln>
            <a:solidFill>
              <a:srgbClr val="7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6" name="流程图: 接点 25"/>
          <p:cNvSpPr/>
          <p:nvPr/>
        </p:nvSpPr>
        <p:spPr>
          <a:xfrm>
            <a:off x="5632079" y="4894613"/>
            <a:ext cx="770562" cy="800100"/>
          </a:xfrm>
          <a:prstGeom prst="flowChartConnector">
            <a:avLst/>
          </a:prstGeom>
          <a:solidFill>
            <a:srgbClr val="9C0000"/>
          </a:solidFill>
          <a:ln>
            <a:solidFill>
              <a:srgbClr val="7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29" name="图形 28" descr="书籍"/>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10528" y="3518064"/>
            <a:ext cx="586265" cy="586265"/>
          </a:xfrm>
          <a:prstGeom prst="rect">
            <a:avLst/>
          </a:prstGeom>
        </p:spPr>
      </p:pic>
      <p:pic>
        <p:nvPicPr>
          <p:cNvPr id="31" name="图形 30" descr="打开的书"/>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4227" y="2037686"/>
            <a:ext cx="586266" cy="586266"/>
          </a:xfrm>
          <a:prstGeom prst="rect">
            <a:avLst/>
          </a:prstGeom>
        </p:spPr>
      </p:pic>
      <p:pic>
        <p:nvPicPr>
          <p:cNvPr id="33" name="图形 32" descr="书架上的书籍"/>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97585" y="4972691"/>
            <a:ext cx="639549" cy="639549"/>
          </a:xfrm>
          <a:prstGeom prst="rect">
            <a:avLst/>
          </a:prstGeom>
        </p:spPr>
      </p:pic>
      <p:sp>
        <p:nvSpPr>
          <p:cNvPr id="45" name="文本框 44"/>
          <p:cNvSpPr txBox="1"/>
          <p:nvPr/>
        </p:nvSpPr>
        <p:spPr>
          <a:xfrm>
            <a:off x="6598207" y="2037686"/>
            <a:ext cx="4008833" cy="3539430"/>
          </a:xfrm>
          <a:prstGeom prst="rect">
            <a:avLst/>
          </a:prstGeom>
          <a:noFill/>
        </p:spPr>
        <p:txBody>
          <a:bodyPr wrap="square">
            <a:spAutoFit/>
          </a:bodyPr>
          <a:lstStyle/>
          <a:p>
            <a:pPr algn="l"/>
            <a:r>
              <a:rPr lang="en-US" altLang="zh-CN" sz="1600" b="0" i="0" dirty="0">
                <a:solidFill>
                  <a:srgbClr val="0F1115"/>
                </a:solidFill>
                <a:effectLst/>
                <a:latin typeface="宋体" panose="02010600030101010101" pitchFamily="2" charset="-122"/>
                <a:ea typeface="宋体" panose="02010600030101010101" pitchFamily="2" charset="-122"/>
              </a:rPr>
              <a:t>2025</a:t>
            </a:r>
            <a:r>
              <a:rPr lang="zh-CN" altLang="en-US" sz="1600" b="0" i="0" dirty="0">
                <a:solidFill>
                  <a:srgbClr val="0F1115"/>
                </a:solidFill>
                <a:effectLst/>
                <a:latin typeface="宋体" panose="02010600030101010101" pitchFamily="2" charset="-122"/>
                <a:ea typeface="宋体" panose="02010600030101010101" pitchFamily="2" charset="-122"/>
              </a:rPr>
              <a:t>年国际低空经济博览会于</a:t>
            </a:r>
            <a:r>
              <a:rPr lang="en-US" altLang="zh-CN" sz="1600" b="0" i="0" dirty="0">
                <a:solidFill>
                  <a:srgbClr val="0F1115"/>
                </a:solidFill>
                <a:effectLst/>
                <a:latin typeface="宋体" panose="02010600030101010101" pitchFamily="2" charset="-122"/>
                <a:ea typeface="宋体" panose="02010600030101010101" pitchFamily="2" charset="-122"/>
              </a:rPr>
              <a:t>7</a:t>
            </a:r>
            <a:r>
              <a:rPr lang="zh-CN" altLang="en-US" sz="1600" b="0" i="0" dirty="0">
                <a:solidFill>
                  <a:srgbClr val="0F1115"/>
                </a:solidFill>
                <a:effectLst/>
                <a:latin typeface="宋体" panose="02010600030101010101" pitchFamily="2" charset="-122"/>
                <a:ea typeface="宋体" panose="02010600030101010101" pitchFamily="2" charset="-122"/>
              </a:rPr>
              <a:t>月</a:t>
            </a:r>
            <a:r>
              <a:rPr lang="en-US" altLang="zh-CN" sz="1600" b="0" i="0" dirty="0">
                <a:solidFill>
                  <a:srgbClr val="0F1115"/>
                </a:solidFill>
                <a:effectLst/>
                <a:latin typeface="宋体" panose="02010600030101010101" pitchFamily="2" charset="-122"/>
                <a:ea typeface="宋体" panose="02010600030101010101" pitchFamily="2" charset="-122"/>
              </a:rPr>
              <a:t>23</a:t>
            </a:r>
            <a:r>
              <a:rPr lang="zh-CN" altLang="en-US" sz="1600" b="0" i="0" dirty="0">
                <a:solidFill>
                  <a:srgbClr val="0F1115"/>
                </a:solidFill>
                <a:effectLst/>
                <a:latin typeface="宋体" panose="02010600030101010101" pitchFamily="2" charset="-122"/>
                <a:ea typeface="宋体" panose="02010600030101010101" pitchFamily="2" charset="-122"/>
              </a:rPr>
              <a:t>日至</a:t>
            </a:r>
            <a:r>
              <a:rPr lang="en-US" altLang="zh-CN" sz="1600" b="0" i="0" dirty="0">
                <a:solidFill>
                  <a:srgbClr val="0F1115"/>
                </a:solidFill>
                <a:effectLst/>
                <a:latin typeface="宋体" panose="02010600030101010101" pitchFamily="2" charset="-122"/>
                <a:ea typeface="宋体" panose="02010600030101010101" pitchFamily="2" charset="-122"/>
              </a:rPr>
              <a:t>26</a:t>
            </a:r>
            <a:r>
              <a:rPr lang="zh-CN" altLang="en-US" sz="1600" b="0" i="0" dirty="0">
                <a:solidFill>
                  <a:srgbClr val="0F1115"/>
                </a:solidFill>
                <a:effectLst/>
                <a:latin typeface="宋体" panose="02010600030101010101" pitchFamily="2" charset="-122"/>
                <a:ea typeface="宋体" panose="02010600030101010101" pitchFamily="2" charset="-122"/>
              </a:rPr>
              <a:t>日在国家会展中心（上海）举行，以其宏大规模与前沿成果，清晰勾勒了产业从技术探索迈向规模化商业应用的关键转折。标志着人类通过技术对空域进行“空间生产”的实践进入新阶段。这本质上体现了</a:t>
            </a:r>
            <a:r>
              <a:rPr lang="zh-CN" altLang="en-US" sz="1600" i="0" dirty="0">
                <a:solidFill>
                  <a:srgbClr val="0F1115"/>
                </a:solidFill>
                <a:effectLst/>
                <a:latin typeface="宋体" panose="02010600030101010101" pitchFamily="2" charset="-122"/>
                <a:ea typeface="宋体" panose="02010600030101010101" pitchFamily="2" charset="-122"/>
              </a:rPr>
              <a:t>生产力的革命性跃迁</a:t>
            </a:r>
            <a:r>
              <a:rPr lang="zh-CN" altLang="en-US" sz="1600" b="0" i="0" dirty="0">
                <a:solidFill>
                  <a:srgbClr val="0F1115"/>
                </a:solidFill>
                <a:effectLst/>
                <a:latin typeface="宋体" panose="02010600030101010101" pitchFamily="2" charset="-122"/>
                <a:ea typeface="宋体" panose="02010600030101010101" pitchFamily="2" charset="-122"/>
              </a:rPr>
              <a:t>，</a:t>
            </a:r>
            <a:r>
              <a:rPr lang="zh-CN" altLang="en-US" sz="1600" i="0" dirty="0">
                <a:solidFill>
                  <a:srgbClr val="0F1115"/>
                </a:solidFill>
                <a:effectLst/>
                <a:latin typeface="宋体" panose="02010600030101010101" pitchFamily="2" charset="-122"/>
                <a:ea typeface="宋体" panose="02010600030101010101" pitchFamily="2" charset="-122"/>
              </a:rPr>
              <a:t>以飞行器和智能系统为标志的新劳动资料，正将空域转化为新的劳动对象与财富源泉</a:t>
            </a:r>
            <a:r>
              <a:rPr lang="zh-CN" altLang="en-US" sz="1600" b="0" i="0" dirty="0">
                <a:solidFill>
                  <a:srgbClr val="0F1115"/>
                </a:solidFill>
                <a:effectLst/>
                <a:latin typeface="宋体" panose="02010600030101010101" pitchFamily="2" charset="-122"/>
                <a:ea typeface="宋体" panose="02010600030101010101" pitchFamily="2" charset="-122"/>
              </a:rPr>
              <a:t>。同时，这也驱动着</a:t>
            </a:r>
            <a:r>
              <a:rPr lang="zh-CN" altLang="en-US" sz="1600" i="0" dirty="0">
                <a:solidFill>
                  <a:srgbClr val="0F1115"/>
                </a:solidFill>
                <a:effectLst/>
                <a:latin typeface="宋体" panose="02010600030101010101" pitchFamily="2" charset="-122"/>
                <a:ea typeface="宋体" panose="02010600030101010101" pitchFamily="2" charset="-122"/>
              </a:rPr>
              <a:t>生产关系的深刻调整</a:t>
            </a:r>
            <a:r>
              <a:rPr lang="zh-CN" altLang="en-US" sz="1600" b="0" i="0" dirty="0">
                <a:solidFill>
                  <a:srgbClr val="0F1115"/>
                </a:solidFill>
                <a:effectLst/>
                <a:latin typeface="宋体" panose="02010600030101010101" pitchFamily="2" charset="-122"/>
                <a:ea typeface="宋体" panose="02010600030101010101" pitchFamily="2" charset="-122"/>
              </a:rPr>
              <a:t>，</a:t>
            </a:r>
            <a:r>
              <a:rPr lang="zh-CN" altLang="en-US" sz="1600" i="0" dirty="0">
                <a:solidFill>
                  <a:srgbClr val="0F1115"/>
                </a:solidFill>
                <a:effectLst/>
                <a:latin typeface="宋体" panose="02010600030101010101" pitchFamily="2" charset="-122"/>
                <a:ea typeface="宋体" panose="02010600030101010101" pitchFamily="2" charset="-122"/>
              </a:rPr>
              <a:t>引发关于空域资源分配、资本逻辑与公共利益平衡的新型社会关系重构</a:t>
            </a:r>
            <a:r>
              <a:rPr lang="zh-CN" altLang="en-US" sz="1600" b="0" i="0" dirty="0">
                <a:solidFill>
                  <a:srgbClr val="0F1115"/>
                </a:solidFill>
                <a:effectLst/>
                <a:latin typeface="宋体" panose="02010600030101010101" pitchFamily="2" charset="-122"/>
                <a:ea typeface="宋体" panose="02010600030101010101" pitchFamily="2" charset="-122"/>
              </a:rPr>
              <a:t>。因此，</a:t>
            </a:r>
            <a:r>
              <a:rPr lang="zh-CN" altLang="en-US" sz="1600" b="1" i="0" dirty="0">
                <a:solidFill>
                  <a:srgbClr val="0F1115"/>
                </a:solidFill>
                <a:effectLst/>
                <a:latin typeface="宋体" panose="02010600030101010101" pitchFamily="2" charset="-122"/>
                <a:ea typeface="宋体" panose="02010600030101010101" pitchFamily="2" charset="-122"/>
              </a:rPr>
              <a:t>其发展是一场在社会主义市场经济下</a:t>
            </a:r>
            <a:r>
              <a:rPr lang="zh-CN" altLang="en-US" sz="1600" b="0" i="0" dirty="0">
                <a:solidFill>
                  <a:srgbClr val="0F1115"/>
                </a:solidFill>
                <a:effectLst/>
                <a:latin typeface="宋体" panose="02010600030101010101" pitchFamily="2" charset="-122"/>
                <a:ea typeface="宋体" panose="02010600030101010101" pitchFamily="2" charset="-122"/>
              </a:rPr>
              <a:t>，</a:t>
            </a:r>
            <a:r>
              <a:rPr lang="zh-CN" altLang="en-US" sz="1600" b="1" i="0" dirty="0">
                <a:solidFill>
                  <a:srgbClr val="0F1115"/>
                </a:solidFill>
                <a:effectLst/>
                <a:latin typeface="宋体" panose="02010600030101010101" pitchFamily="2" charset="-122"/>
                <a:ea typeface="宋体" panose="02010600030101010101" pitchFamily="2" charset="-122"/>
              </a:rPr>
              <a:t>平衡生产力解放与生产关系调适的</a:t>
            </a:r>
            <a:r>
              <a:rPr lang="zh-CN" altLang="en-US" sz="1600" b="1" dirty="0">
                <a:solidFill>
                  <a:srgbClr val="0F1115"/>
                </a:solidFill>
                <a:latin typeface="宋体" panose="02010600030101010101" pitchFamily="2" charset="-122"/>
                <a:ea typeface="宋体" panose="02010600030101010101" pitchFamily="2" charset="-122"/>
              </a:rPr>
              <a:t>生动案例</a:t>
            </a:r>
            <a:r>
              <a:rPr lang="zh-CN" altLang="en-US" sz="1600" b="0" i="0" dirty="0">
                <a:solidFill>
                  <a:srgbClr val="0F1115"/>
                </a:solidFill>
                <a:effectLst/>
                <a:latin typeface="宋体" panose="02010600030101010101" pitchFamily="2" charset="-122"/>
                <a:ea typeface="宋体" panose="02010600030101010101" pitchFamily="2" charset="-122"/>
              </a:rPr>
              <a:t>。</a:t>
            </a:r>
            <a:endPar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pic>
        <p:nvPicPr>
          <p:cNvPr id="6" name="图片 5" descr="/private/var/folders/f6/7nsh5b515ts31ks591qt51480000gn/T/com.kingsoft.wpsoffice.mac/picturecompress_20221217152405/output_12.pngoutput_12"/>
          <p:cNvPicPr>
            <a:picLocks noChangeAspect="1"/>
          </p:cNvPicPr>
          <p:nvPr/>
        </p:nvPicPr>
        <p:blipFill>
          <a:blip r:embed="rId10"/>
          <a:stretch>
            <a:fillRect/>
          </a:stretch>
        </p:blipFill>
        <p:spPr>
          <a:xfrm>
            <a:off x="86069" y="128754"/>
            <a:ext cx="537819" cy="537819"/>
          </a:xfrm>
          <a:prstGeom prst="rect">
            <a:avLst/>
          </a:prstGeom>
        </p:spPr>
      </p:pic>
      <p:pic>
        <p:nvPicPr>
          <p:cNvPr id="3" name="图片 2" descr="/private/var/folders/f6/7nsh5b515ts31ks591qt51480000gn/T/com.kingsoft.wpsoffice.mac/picturecompress_20221217152405/output_13.pngoutput_13"/>
          <p:cNvPicPr>
            <a:picLocks noChangeAspect="1"/>
          </p:cNvPicPr>
          <p:nvPr/>
        </p:nvPicPr>
        <p:blipFill>
          <a:blip r:embed="rId11"/>
          <a:stretch>
            <a:fillRect/>
          </a:stretch>
        </p:blipFill>
        <p:spPr>
          <a:xfrm>
            <a:off x="9813778" y="90592"/>
            <a:ext cx="2135851" cy="627406"/>
          </a:xfrm>
          <a:prstGeom prst="rect">
            <a:avLst/>
          </a:prstGeom>
        </p:spPr>
      </p:pic>
    </p:spTree>
    <p:custDataLst>
      <p:tags r:id="rId1"/>
    </p:custDataLst>
    <p:extLst>
      <p:ext uri="{BB962C8B-B14F-4D97-AF65-F5344CB8AC3E}">
        <p14:creationId xmlns:p14="http://schemas.microsoft.com/office/powerpoint/2010/main" val="3403860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a:xfrm>
            <a:off x="660400" y="128754"/>
            <a:ext cx="354584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低空经济的发展现状</a:t>
            </a:r>
          </a:p>
        </p:txBody>
      </p:sp>
      <p:sp>
        <p:nvSpPr>
          <p:cNvPr id="3" name="内容占位符 2"/>
          <p:cNvSpPr>
            <a:spLocks noGrp="1"/>
          </p:cNvSpPr>
          <p:nvPr>
            <p:ph idx="1"/>
          </p:nvPr>
        </p:nvSpPr>
        <p:spPr>
          <a:xfrm>
            <a:off x="1088572" y="4389120"/>
            <a:ext cx="4467498" cy="2172568"/>
          </a:xfrm>
        </p:spPr>
        <p:txBody>
          <a:bodyPr>
            <a:noAutofit/>
          </a:bodyPr>
          <a:lstStyle/>
          <a:p>
            <a:pPr marL="0" indent="0">
              <a:buNone/>
            </a:pPr>
            <a:r>
              <a:rPr lang="zh-CN" altLang="en-US" sz="1400" b="0" i="0" dirty="0">
                <a:effectLst/>
                <a:latin typeface="宋体" panose="02010600030101010101" pitchFamily="2" charset="-122"/>
                <a:ea typeface="宋体" panose="02010600030101010101" pitchFamily="2" charset="-122"/>
              </a:rPr>
              <a:t>当前低空经济已进入政策赋能、基建提速、场景落地的高速发展期，</a:t>
            </a:r>
            <a:r>
              <a:rPr lang="zh-CN" altLang="en-US" sz="1400" b="1" i="0" dirty="0">
                <a:effectLst/>
                <a:latin typeface="宋体" panose="02010600030101010101" pitchFamily="2" charset="-122"/>
                <a:ea typeface="宋体" panose="02010600030101010101" pitchFamily="2" charset="-122"/>
              </a:rPr>
              <a:t>形成了以无人机为核心载体，覆盖装备制造、基础设施、运营服务的完整产业生态</a:t>
            </a:r>
            <a:r>
              <a:rPr lang="zh-CN" altLang="en-US" sz="1400" b="0" i="0" dirty="0">
                <a:effectLst/>
                <a:latin typeface="宋体" panose="02010600030101010101" pitchFamily="2" charset="-122"/>
                <a:ea typeface="宋体" panose="02010600030101010101" pitchFamily="2" charset="-122"/>
              </a:rPr>
              <a:t>。我国凭借在无人机领域的技术与产业链优势，不仅实现了市场规模的快速扩容，更在能源巡检、低空物流、应急救援等多场景完成规模化应用，区域特色发展格局初步成型。从技术到应用、从政策到基建，低空经济正逐步突破发展瓶颈，成为拉动经济增长的新引擎，其与实体经济的深度融合也为各行业智能化升级注入了强劲动力。</a:t>
            </a:r>
            <a:endParaRPr lang="zh-CN" altLang="en-US" sz="1400" dirty="0">
              <a:latin typeface="宋体" panose="02010600030101010101" pitchFamily="2" charset="-122"/>
              <a:ea typeface="宋体" panose="02010600030101010101" pitchFamily="2" charset="-122"/>
            </a:endParaRPr>
          </a:p>
        </p:txBody>
      </p:sp>
      <p:sp>
        <p:nvSpPr>
          <p:cNvPr id="8" name="矩形 7"/>
          <p:cNvSpPr/>
          <p:nvPr/>
        </p:nvSpPr>
        <p:spPr>
          <a:xfrm>
            <a:off x="1341147" y="1500910"/>
            <a:ext cx="3938297" cy="2541359"/>
          </a:xfrm>
          <a:prstGeom prst="rect">
            <a:avLst/>
          </a:prstGeom>
          <a:solidFill>
            <a:srgbClr val="9E0000"/>
          </a:solidFill>
          <a:ln>
            <a:solidFill>
              <a:srgbClr val="9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174951" y="3521489"/>
            <a:ext cx="3706752" cy="2471168"/>
          </a:xfrm>
          <a:prstGeom prst="rect">
            <a:avLst/>
          </a:prstGeom>
          <a:solidFill>
            <a:srgbClr val="9E0000"/>
          </a:solidFill>
          <a:ln>
            <a:solidFill>
              <a:srgbClr val="9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7000511" y="929688"/>
            <a:ext cx="3981416" cy="2246769"/>
          </a:xfrm>
          <a:prstGeom prst="rect">
            <a:avLst/>
          </a:prstGeom>
          <a:noFill/>
        </p:spPr>
        <p:txBody>
          <a:bodyPr wrap="square">
            <a:spAutoFit/>
          </a:bodyPr>
          <a:lstStyle/>
          <a:p>
            <a:pPr marL="0" indent="0">
              <a:buNone/>
            </a:pPr>
            <a:r>
              <a:rPr lang="zh-CN" altLang="en-US" sz="1400" b="0" i="0" dirty="0">
                <a:effectLst/>
                <a:latin typeface="宋体" panose="02010600030101010101" pitchFamily="2" charset="-122"/>
                <a:ea typeface="宋体" panose="02010600030101010101" pitchFamily="2" charset="-122"/>
              </a:rPr>
              <a:t>载人飞行器（核心为 </a:t>
            </a:r>
            <a:r>
              <a:rPr lang="en-US" altLang="zh-CN" sz="1400" b="0" i="0" dirty="0">
                <a:effectLst/>
                <a:latin typeface="宋体" panose="02010600030101010101" pitchFamily="2" charset="-122"/>
                <a:ea typeface="宋体" panose="02010600030101010101" pitchFamily="2" charset="-122"/>
              </a:rPr>
              <a:t>eVTOL</a:t>
            </a:r>
            <a:r>
              <a:rPr lang="zh-CN" altLang="en-US" sz="1400" b="0" i="0" dirty="0">
                <a:effectLst/>
                <a:latin typeface="宋体" panose="02010600030101010101" pitchFamily="2" charset="-122"/>
                <a:ea typeface="宋体" panose="02010600030101010101" pitchFamily="2" charset="-122"/>
              </a:rPr>
              <a:t>）是低空经济向立体出行升级的关键引擎，与低空经济形成深度绑定的共生关系。在技术与政策加持下，相关企业已实现技术验证与场景落地突破，</a:t>
            </a:r>
            <a:r>
              <a:rPr lang="zh-CN" altLang="en-US" sz="1400" b="1" i="0" dirty="0">
                <a:effectLst/>
                <a:latin typeface="宋体" panose="02010600030101010101" pitchFamily="2" charset="-122"/>
                <a:ea typeface="宋体" panose="02010600030101010101" pitchFamily="2" charset="-122"/>
              </a:rPr>
              <a:t>开拓了空中通勤、低空旅游、应急救援等多元场景</a:t>
            </a:r>
            <a:r>
              <a:rPr lang="zh-CN" altLang="en-US" sz="1400" b="0" i="0" dirty="0">
                <a:effectLst/>
                <a:latin typeface="宋体" panose="02010600030101010101" pitchFamily="2" charset="-122"/>
                <a:ea typeface="宋体" panose="02010600030101010101" pitchFamily="2" charset="-122"/>
              </a:rPr>
              <a:t>。同时，它反向推动低空起降点、智能空管系统等基建升级，助力低空经济生态完善。当前虽面临电池能量密度、空域协调等瓶颈，但随着技术迭代与基建落地，</a:t>
            </a:r>
            <a:r>
              <a:rPr lang="zh-CN" altLang="en-US" sz="1400" b="1" i="0" dirty="0">
                <a:effectLst/>
                <a:latin typeface="宋体" panose="02010600030101010101" pitchFamily="2" charset="-122"/>
                <a:ea typeface="宋体" panose="02010600030101010101" pitchFamily="2" charset="-122"/>
              </a:rPr>
              <a:t>载人飞行器将加速大众化应用，重构城市交通格局</a:t>
            </a:r>
            <a:r>
              <a:rPr lang="zh-CN" altLang="en-US" sz="1400" b="0" i="0" dirty="0">
                <a:effectLst/>
                <a:latin typeface="宋体" panose="02010600030101010101" pitchFamily="2" charset="-122"/>
                <a:ea typeface="宋体" panose="02010600030101010101" pitchFamily="2" charset="-122"/>
              </a:rPr>
              <a:t>，成为低空经济高质量发展的核心支撑。</a:t>
            </a:r>
            <a:endParaRPr lang="zh-CN" altLang="en-US" sz="1400" dirty="0">
              <a:latin typeface="宋体" panose="02010600030101010101" pitchFamily="2" charset="-122"/>
              <a:ea typeface="宋体" panose="02010600030101010101" pitchFamily="2" charset="-122"/>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574653" y="1767495"/>
            <a:ext cx="3806976" cy="2541359"/>
          </a:xfrm>
          <a:prstGeom prst="rect">
            <a:avLst/>
          </a:prstGeom>
        </p:spPr>
      </p:pic>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000510" y="3933837"/>
            <a:ext cx="3706752" cy="2172568"/>
          </a:xfrm>
          <a:prstGeom prst="rect">
            <a:avLst/>
          </a:prstGeom>
        </p:spPr>
      </p:pic>
      <p:pic>
        <p:nvPicPr>
          <p:cNvPr id="6" name="图片 5" descr="/private/var/folders/f6/7nsh5b515ts31ks591qt51480000gn/T/com.kingsoft.wpsoffice.mac/picturecompress_20221217152405/output_7.pngoutput_7"/>
          <p:cNvPicPr>
            <a:picLocks noChangeAspect="1"/>
          </p:cNvPicPr>
          <p:nvPr/>
        </p:nvPicPr>
        <p:blipFill>
          <a:blip r:embed="rId4"/>
          <a:stretch>
            <a:fillRect/>
          </a:stretch>
        </p:blipFill>
        <p:spPr>
          <a:xfrm>
            <a:off x="86069" y="128754"/>
            <a:ext cx="537819" cy="537819"/>
          </a:xfrm>
          <a:prstGeom prst="rect">
            <a:avLst/>
          </a:prstGeom>
        </p:spPr>
      </p:pic>
      <p:pic>
        <p:nvPicPr>
          <p:cNvPr id="15" name="图片 14" descr="/private/var/folders/f6/7nsh5b515ts31ks591qt51480000gn/T/com.kingsoft.wpsoffice.mac/picturecompress_20221217152405/output_8.pngoutput_8"/>
          <p:cNvPicPr>
            <a:picLocks noChangeAspect="1"/>
          </p:cNvPicPr>
          <p:nvPr/>
        </p:nvPicPr>
        <p:blipFill>
          <a:blip r:embed="rId5"/>
          <a:stretch>
            <a:fillRect/>
          </a:stretch>
        </p:blipFill>
        <p:spPr>
          <a:xfrm>
            <a:off x="9813778" y="99218"/>
            <a:ext cx="2135851" cy="6274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754"/>
            <a:ext cx="235077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无人机的发展</a:t>
            </a:r>
          </a:p>
        </p:txBody>
      </p:sp>
      <p:graphicFrame>
        <p:nvGraphicFramePr>
          <p:cNvPr id="3" name="图示 2"/>
          <p:cNvGraphicFramePr/>
          <p:nvPr>
            <p:extLst>
              <p:ext uri="{D42A27DB-BD31-4B8C-83A1-F6EECF244321}">
                <p14:modId xmlns:p14="http://schemas.microsoft.com/office/powerpoint/2010/main" val="3912596805"/>
              </p:ext>
            </p:extLst>
          </p:nvPr>
        </p:nvGraphicFramePr>
        <p:xfrm>
          <a:off x="2032000" y="11259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直接连接符 6"/>
          <p:cNvCxnSpPr/>
          <p:nvPr/>
        </p:nvCxnSpPr>
        <p:spPr>
          <a:xfrm>
            <a:off x="1251857" y="1125966"/>
            <a:ext cx="0" cy="5008134"/>
          </a:xfrm>
          <a:prstGeom prst="line">
            <a:avLst/>
          </a:prstGeom>
          <a:ln w="76200">
            <a:solidFill>
              <a:srgbClr val="A80000"/>
            </a:solidFill>
          </a:ln>
        </p:spPr>
        <p:style>
          <a:lnRef idx="1">
            <a:schemeClr val="accent1"/>
          </a:lnRef>
          <a:fillRef idx="0">
            <a:schemeClr val="accent1"/>
          </a:fillRef>
          <a:effectRef idx="0">
            <a:schemeClr val="accent1"/>
          </a:effectRef>
          <a:fontRef idx="minor">
            <a:schemeClr val="tx1"/>
          </a:fontRef>
        </p:style>
      </p:cxnSp>
      <p:sp>
        <p:nvSpPr>
          <p:cNvPr id="8" name="菱形 7"/>
          <p:cNvSpPr/>
          <p:nvPr/>
        </p:nvSpPr>
        <p:spPr>
          <a:xfrm>
            <a:off x="1447799" y="5714999"/>
            <a:ext cx="239475" cy="277586"/>
          </a:xfrm>
          <a:prstGeom prst="diamond">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菱形 8"/>
          <p:cNvSpPr/>
          <p:nvPr/>
        </p:nvSpPr>
        <p:spPr>
          <a:xfrm>
            <a:off x="1445984" y="5290456"/>
            <a:ext cx="239475" cy="277586"/>
          </a:xfrm>
          <a:prstGeom prst="diamond">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菱形 9"/>
          <p:cNvSpPr/>
          <p:nvPr/>
        </p:nvSpPr>
        <p:spPr>
          <a:xfrm>
            <a:off x="1443262" y="4865913"/>
            <a:ext cx="239475" cy="277586"/>
          </a:xfrm>
          <a:prstGeom prst="diamond">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10906397" y="1125966"/>
            <a:ext cx="0" cy="5008134"/>
          </a:xfrm>
          <a:prstGeom prst="line">
            <a:avLst/>
          </a:prstGeom>
          <a:ln w="76200">
            <a:solidFill>
              <a:srgbClr val="A80000"/>
            </a:solidFill>
          </a:ln>
        </p:spPr>
        <p:style>
          <a:lnRef idx="1">
            <a:schemeClr val="accent1"/>
          </a:lnRef>
          <a:fillRef idx="0">
            <a:schemeClr val="accent1"/>
          </a:fillRef>
          <a:effectRef idx="0">
            <a:schemeClr val="accent1"/>
          </a:effectRef>
          <a:fontRef idx="minor">
            <a:schemeClr val="tx1"/>
          </a:fontRef>
        </p:style>
      </p:cxnSp>
      <p:sp>
        <p:nvSpPr>
          <p:cNvPr id="12" name="菱形 11"/>
          <p:cNvSpPr/>
          <p:nvPr/>
        </p:nvSpPr>
        <p:spPr>
          <a:xfrm>
            <a:off x="10477510" y="1295399"/>
            <a:ext cx="239475" cy="277586"/>
          </a:xfrm>
          <a:prstGeom prst="diamond">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菱形 12"/>
          <p:cNvSpPr/>
          <p:nvPr/>
        </p:nvSpPr>
        <p:spPr>
          <a:xfrm>
            <a:off x="10477509" y="1703613"/>
            <a:ext cx="239475" cy="277586"/>
          </a:xfrm>
          <a:prstGeom prst="diamond">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菱形 13"/>
          <p:cNvSpPr/>
          <p:nvPr/>
        </p:nvSpPr>
        <p:spPr>
          <a:xfrm>
            <a:off x="10477509" y="2111827"/>
            <a:ext cx="239475" cy="277586"/>
          </a:xfrm>
          <a:prstGeom prst="diamond">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private/var/folders/f6/7nsh5b515ts31ks591qt51480000gn/T/com.kingsoft.wpsoffice.mac/picturecompress_20221217152405/output_37.pngoutput_37"/>
          <p:cNvPicPr>
            <a:picLocks noChangeAspect="1"/>
          </p:cNvPicPr>
          <p:nvPr/>
        </p:nvPicPr>
        <p:blipFill>
          <a:blip r:embed="rId8"/>
          <a:stretch>
            <a:fillRect/>
          </a:stretch>
        </p:blipFill>
        <p:spPr>
          <a:xfrm>
            <a:off x="86069" y="128754"/>
            <a:ext cx="537819" cy="537819"/>
          </a:xfrm>
          <a:prstGeom prst="rect">
            <a:avLst/>
          </a:prstGeom>
        </p:spPr>
      </p:pic>
      <p:pic>
        <p:nvPicPr>
          <p:cNvPr id="15" name="图片 14" descr="/private/var/folders/f6/7nsh5b515ts31ks591qt51480000gn/T/com.kingsoft.wpsoffice.mac/picturecompress_20221217152405/output_38.pngoutput_38"/>
          <p:cNvPicPr>
            <a:picLocks noChangeAspect="1"/>
          </p:cNvPicPr>
          <p:nvPr/>
        </p:nvPicPr>
        <p:blipFill>
          <a:blip r:embed="rId9"/>
          <a:stretch>
            <a:fillRect/>
          </a:stretch>
        </p:blipFill>
        <p:spPr>
          <a:xfrm>
            <a:off x="9813778" y="90592"/>
            <a:ext cx="2135851" cy="627406"/>
          </a:xfrm>
          <a:prstGeom prst="rect">
            <a:avLst/>
          </a:prstGeom>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private/var/folders/f6/7nsh5b515ts31ks591qt51480000gn/T/com.kingsoft.wpsoffice.mac/picturecompress_20221217152405/output_16.jpgoutput_16"/>
          <p:cNvPicPr>
            <a:picLocks noChangeAspect="1"/>
          </p:cNvPicPr>
          <p:nvPr/>
        </p:nvPicPr>
        <p:blipFill rotWithShape="1">
          <a:blip r:embed="rId3"/>
          <a:srcRect/>
          <a:stretch>
            <a:fillRect/>
          </a:stretch>
        </p:blipFill>
        <p:spPr>
          <a:xfrm>
            <a:off x="0" y="-148590"/>
            <a:ext cx="12192000" cy="7006590"/>
          </a:xfrm>
          <a:prstGeom prst="rect">
            <a:avLst/>
          </a:prstGeom>
        </p:spPr>
      </p:pic>
      <p:sp>
        <p:nvSpPr>
          <p:cNvPr id="4" name="PA-矩形 5"/>
          <p:cNvSpPr/>
          <p:nvPr>
            <p:custDataLst>
              <p:tags r:id="rId1"/>
            </p:custDataLst>
          </p:nvPr>
        </p:nvSpPr>
        <p:spPr>
          <a:xfrm>
            <a:off x="0" y="-212652"/>
            <a:ext cx="12192000" cy="7070652"/>
          </a:xfrm>
          <a:prstGeom prst="rect">
            <a:avLst/>
          </a:prstGeom>
          <a:solidFill>
            <a:srgbClr val="7A0000">
              <a:alpha val="84706"/>
            </a:srgbClr>
          </a:solidFill>
          <a:ln>
            <a:solidFill>
              <a:srgbClr val="9C0000"/>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096000" y="1038225"/>
            <a:ext cx="4795463" cy="5755713"/>
          </a:xfrm>
        </p:spPr>
        <p:txBody>
          <a:bodyPr>
            <a:noAutofit/>
          </a:bodyPr>
          <a:lstStyle/>
          <a:p>
            <a:pPr algn="ctr"/>
            <a:r>
              <a:rPr lang="en-US" altLang="zh-CN" sz="480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38100" dist="38100" dir="2700000" algn="tl">
                    <a:srgbClr val="000000">
                      <a:alpha val="43137"/>
                    </a:srgbClr>
                  </a:outerShdw>
                </a:effectLst>
                <a:latin typeface="Imprint MT Shadow" panose="04020605060303030202" pitchFamily="82" charset="0"/>
              </a:rPr>
              <a:t>2</a:t>
            </a:r>
            <a:endParaRPr lang="zh-CN" altLang="en-US" sz="480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38100" dist="38100" dir="2700000" algn="tl">
                  <a:srgbClr val="000000">
                    <a:alpha val="43137"/>
                  </a:srgbClr>
                </a:outerShdw>
              </a:effectLst>
              <a:latin typeface="Imprint MT Shadow" panose="04020605060303030202" pitchFamily="82" charset="0"/>
            </a:endParaRPr>
          </a:p>
        </p:txBody>
      </p:sp>
      <p:sp>
        <p:nvSpPr>
          <p:cNvPr id="9" name="文本框 8"/>
          <p:cNvSpPr txBox="1"/>
          <p:nvPr/>
        </p:nvSpPr>
        <p:spPr>
          <a:xfrm>
            <a:off x="850265" y="1423035"/>
            <a:ext cx="5245735" cy="163512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0" normalizeH="0" baseline="0" noProof="0" dirty="0">
                <a:ln>
                  <a:noFill/>
                </a:ln>
                <a:gradFill>
                  <a:gsLst>
                    <a:gs pos="31000">
                      <a:srgbClr val="A5A5A5">
                        <a:lumMod val="0"/>
                        <a:lumOff val="100000"/>
                      </a:srgbClr>
                    </a:gs>
                    <a:gs pos="51000">
                      <a:srgbClr val="A5A5A5">
                        <a:lumMod val="0"/>
                        <a:lumOff val="100000"/>
                      </a:srgbClr>
                    </a:gs>
                    <a:gs pos="100000">
                      <a:srgbClr val="A5A5A5">
                        <a:lumMod val="100000"/>
                      </a:srgbClr>
                    </a:gs>
                  </a:gsLst>
                  <a:path path="circle">
                    <a:fillToRect l="50000" t="-80000" r="50000" b="180000"/>
                  </a:path>
                </a:gradFill>
                <a:effectLst>
                  <a:outerShdw blurRad="50800" dist="38100" dir="2700000" algn="tl" rotWithShape="0">
                    <a:prstClr val="black">
                      <a:alpha val="40000"/>
                    </a:prstClr>
                  </a:outerShdw>
                </a:effectLst>
                <a:uLnTx/>
                <a:uFillTx/>
                <a:latin typeface="华文宋体" panose="02010600040101010101" pitchFamily="2" charset="-122"/>
                <a:ea typeface="华文宋体" panose="02010600040101010101" pitchFamily="2" charset="-122"/>
                <a:cs typeface="+mn-cs"/>
              </a:rPr>
              <a:t>无人机应用</a:t>
            </a:r>
            <a:endParaRPr kumimoji="0" lang="en-US" altLang="zh-CN" sz="7200" b="1" i="0" u="none" strike="noStrike" kern="1200" cap="none" spc="0" normalizeH="0" baseline="0" noProof="0" dirty="0">
              <a:ln>
                <a:noFill/>
              </a:ln>
              <a:gradFill>
                <a:gsLst>
                  <a:gs pos="31000">
                    <a:srgbClr val="A5A5A5">
                      <a:lumMod val="0"/>
                      <a:lumOff val="100000"/>
                    </a:srgbClr>
                  </a:gs>
                  <a:gs pos="51000">
                    <a:srgbClr val="A5A5A5">
                      <a:lumMod val="0"/>
                      <a:lumOff val="100000"/>
                    </a:srgbClr>
                  </a:gs>
                  <a:gs pos="100000">
                    <a:srgbClr val="A5A5A5">
                      <a:lumMod val="100000"/>
                    </a:srgbClr>
                  </a:gs>
                </a:gsLst>
                <a:path path="circle">
                  <a:fillToRect l="50000" t="-80000" r="50000" b="180000"/>
                </a:path>
              </a:gradFill>
              <a:effectLst>
                <a:outerShdw blurRad="50800" dist="38100" dir="2700000" algn="tl" rotWithShape="0">
                  <a:prstClr val="black">
                    <a:alpha val="40000"/>
                  </a:prstClr>
                </a:outerShdw>
              </a:effectLst>
              <a:uLnTx/>
              <a:uFillTx/>
              <a:latin typeface="华文宋体" panose="02010600040101010101" pitchFamily="2" charset="-122"/>
              <a:ea typeface="华文宋体" panose="02010600040101010101" pitchFamily="2" charset="-122"/>
              <a:cs typeface="+mn-cs"/>
            </a:endParaRPr>
          </a:p>
        </p:txBody>
      </p:sp>
      <p:sp>
        <p:nvSpPr>
          <p:cNvPr id="6" name="文本框 5"/>
          <p:cNvSpPr txBox="1"/>
          <p:nvPr/>
        </p:nvSpPr>
        <p:spPr>
          <a:xfrm>
            <a:off x="850265" y="3114675"/>
            <a:ext cx="4984750" cy="25844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rPr>
              <a:t>随着技术进步与应用场景的不断拓展，无人机已从早期的军事领域</a:t>
            </a:r>
            <a:r>
              <a:rPr kumimoji="0" lang="en-US" altLang="zh-CN"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rPr>
              <a:t>飞入寻常百姓家</a:t>
            </a:r>
            <a:r>
              <a:rPr kumimoji="0" lang="en-US" altLang="zh-CN"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rPr>
              <a:t>，成为推动低空经济发展的重要引擎。从航拍娱乐到农业喷洒，从交通管理到电力巡检，无人机正以多样化应用重塑生产与生活模式。若以马克思主义原理为分析工具，我们可以更深刻地理解这一技术变革背后的社会经济逻辑，揭示其如何推动生产力发展、调整生产关系，并为低空经济绘制可持续的发展蓝图。</a:t>
            </a:r>
          </a:p>
        </p:txBody>
      </p:sp>
    </p:spTree>
    <p:extLst>
      <p:ext uri="{BB962C8B-B14F-4D97-AF65-F5344CB8AC3E}">
        <p14:creationId xmlns:p14="http://schemas.microsoft.com/office/powerpoint/2010/main" val="3339384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905"/>
            <a:ext cx="8045450" cy="663575"/>
          </a:xfrm>
        </p:spPr>
        <p:txBody>
          <a:bodyPr>
            <a:normAutofit fontScale="90000"/>
          </a:bodyPr>
          <a:lstStyle/>
          <a:p>
            <a:r>
              <a:rPr lang="en-US" altLang="zh-CN" sz="2800" b="1" dirty="0">
                <a:solidFill>
                  <a:schemeClr val="bg1"/>
                </a:solidFill>
                <a:latin typeface="华文新魏" panose="02010800040101010101" pitchFamily="2" charset="-122"/>
                <a:ea typeface="华文新魏" panose="02010800040101010101" pitchFamily="2" charset="-122"/>
              </a:rPr>
              <a:t>1. </a:t>
            </a:r>
            <a:r>
              <a:rPr lang="zh-CN" altLang="en-US" sz="2800" b="1" dirty="0">
                <a:solidFill>
                  <a:schemeClr val="bg1"/>
                </a:solidFill>
                <a:latin typeface="华文新魏" panose="02010800040101010101" pitchFamily="2" charset="-122"/>
                <a:ea typeface="华文新魏" panose="02010800040101010101" pitchFamily="2" charset="-122"/>
              </a:rPr>
              <a:t>无人机航拍与娱乐：消费领域的</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使用价值</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创造</a:t>
            </a:r>
          </a:p>
        </p:txBody>
      </p:sp>
      <p:pic>
        <p:nvPicPr>
          <p:cNvPr id="8" name="图片 7" descr="/private/var/folders/f6/7nsh5b515ts31ks591qt51480000gn/T/com.kingsoft.wpsoffice.mac/picturecompress_20221217152405/output_17.pngoutput_17"/>
          <p:cNvPicPr>
            <a:picLocks noChangeAspect="1"/>
          </p:cNvPicPr>
          <p:nvPr/>
        </p:nvPicPr>
        <p:blipFill>
          <a:blip r:embed="rId5"/>
          <a:stretch>
            <a:fillRect/>
          </a:stretch>
        </p:blipFill>
        <p:spPr>
          <a:xfrm>
            <a:off x="86069" y="128754"/>
            <a:ext cx="537819" cy="537819"/>
          </a:xfrm>
          <a:prstGeom prst="rect">
            <a:avLst/>
          </a:prstGeom>
        </p:spPr>
      </p:pic>
      <p:pic>
        <p:nvPicPr>
          <p:cNvPr id="9" name="图片 8" descr="/private/var/folders/f6/7nsh5b515ts31ks591qt51480000gn/T/com.kingsoft.wpsoffice.mac/picturecompress_20221217152405/output_18.pngoutput_18"/>
          <p:cNvPicPr>
            <a:picLocks noChangeAspect="1"/>
          </p:cNvPicPr>
          <p:nvPr/>
        </p:nvPicPr>
        <p:blipFill>
          <a:blip r:embed="rId6"/>
          <a:stretch>
            <a:fillRect/>
          </a:stretch>
        </p:blipFill>
        <p:spPr>
          <a:xfrm>
            <a:off x="9813778" y="90592"/>
            <a:ext cx="2135851" cy="627406"/>
          </a:xfrm>
          <a:prstGeom prst="rect">
            <a:avLst/>
          </a:prstGeom>
        </p:spPr>
      </p:pic>
      <p:sp>
        <p:nvSpPr>
          <p:cNvPr id="5" name="内容占位符 4"/>
          <p:cNvSpPr>
            <a:spLocks noGrp="1"/>
          </p:cNvSpPr>
          <p:nvPr>
            <p:ph idx="1"/>
          </p:nvPr>
        </p:nvSpPr>
        <p:spPr>
          <a:xfrm>
            <a:off x="282575" y="1196340"/>
            <a:ext cx="11666855" cy="4351655"/>
          </a:xfrm>
        </p:spPr>
        <p:txBody>
          <a:bodyPr/>
          <a:lstStyle/>
          <a:p>
            <a:r>
              <a:rPr lang="zh-CN" altLang="en-US" sz="2000" dirty="0"/>
              <a:t>无人机航拍通过提供独特的空中视角，广泛应用于影视制作、旅游记录、赛事直播等领域，创造了新的文化消费形态。例如，纪录片《航拍中国》利用无人机镜头展现自然与城市景观，提升了内容的观赏性与传播力。</a:t>
            </a:r>
          </a:p>
          <a:p>
            <a:r>
              <a:rPr lang="en-US" altLang="zh-CN" sz="2000" dirty="0"/>
              <a:t>      </a:t>
            </a:r>
            <a:r>
              <a:rPr lang="zh-CN" altLang="en-US" sz="2000" b="1" dirty="0"/>
              <a:t>马克思主义视角</a:t>
            </a:r>
            <a:r>
              <a:rPr lang="zh-CN" altLang="en-US" sz="2000" dirty="0"/>
              <a:t>：马克思在《资本论》中强调商品的</a:t>
            </a:r>
            <a:r>
              <a:rPr lang="en-US" altLang="zh-CN" sz="2000" dirty="0"/>
              <a:t>“</a:t>
            </a:r>
            <a:r>
              <a:rPr lang="zh-CN" altLang="en-US" sz="2000" dirty="0"/>
              <a:t>使用价值</a:t>
            </a:r>
            <a:r>
              <a:rPr lang="en-US" altLang="zh-CN" sz="2000" dirty="0"/>
              <a:t>”</a:t>
            </a:r>
            <a:r>
              <a:rPr lang="zh-CN" altLang="en-US" sz="2000" dirty="0"/>
              <a:t>是满足人类需求的物质基础。无人机航拍创造了新型使用价值</a:t>
            </a:r>
            <a:r>
              <a:rPr lang="en-US" altLang="zh-CN" sz="2000" dirty="0"/>
              <a:t>——</a:t>
            </a:r>
            <a:r>
              <a:rPr lang="zh-CN" altLang="en-US" sz="2000" dirty="0"/>
              <a:t>即通过技术赋能，满足人们对审美、记录与体验的精神需求。</a:t>
            </a:r>
          </a:p>
        </p:txBody>
      </p:sp>
      <p:pic>
        <p:nvPicPr>
          <p:cNvPr id="10" name="微信视频2025-12-13_185334_686">
            <a:hlinkClick r:id="" action="ppaction://media"/>
          </p:cNvPr>
          <p:cNvPicPr/>
          <p:nvPr>
            <a:videoFile r:link="rId3"/>
            <p:extLst>
              <p:ext uri="{DAA4B4D4-6D71-4841-9C94-3DE7FCFB9230}">
                <p14:media xmlns:p14="http://schemas.microsoft.com/office/powerpoint/2010/main" r:embed="rId2"/>
              </p:ext>
            </p:extLst>
          </p:nvPr>
        </p:nvPicPr>
        <p:blipFill>
          <a:blip r:embed="rId7"/>
          <a:stretch>
            <a:fillRect/>
          </a:stretch>
        </p:blipFill>
        <p:spPr>
          <a:xfrm>
            <a:off x="2802255" y="3096260"/>
            <a:ext cx="8128000" cy="3657600"/>
          </a:xfrm>
          <a:prstGeom prst="rect">
            <a:avLst/>
          </a:prstGeom>
        </p:spPr>
      </p:pic>
    </p:spTree>
    <p:custDataLst>
      <p:tags r:id="rId1"/>
    </p:custDataLst>
    <p:extLst>
      <p:ext uri="{BB962C8B-B14F-4D97-AF65-F5344CB8AC3E}">
        <p14:creationId xmlns:p14="http://schemas.microsoft.com/office/powerpoint/2010/main" val="1524323119"/>
      </p:ext>
    </p:extLst>
  </p:cSld>
  <p:clrMapOvr>
    <a:masterClrMapping/>
  </p:clrMapOvr>
  <p:timing>
    <p:tnLst>
      <p:par>
        <p:cTn id="1" dur="indefinite" restart="never" nodeType="tmRoot">
          <p:childTnLst>
            <p:video>
              <p:cMediaNode>
                <p:cTn id="2" fill="hold" display="1">
                  <p:stCondLst>
                    <p:cond delay="indefinite"/>
                  </p:stCondLst>
                </p:cTn>
                <p:tgtEl>
                  <p:spTgt spid="10"/>
                </p:tgtEl>
              </p:cMediaNode>
            </p:video>
            <p:seq concurrent="1" nextAc="seek">
              <p:cTn id="3" restart="whenNotActive" fill="hold" evtFilter="cancelBubble" nodeType="interactiveSeq">
                <p:stCondLst>
                  <p:cond evt="onClick" delay="0">
                    <p:tgtEl>
                      <p:spTgt spid="10"/>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905"/>
            <a:ext cx="8668385" cy="663575"/>
          </a:xfrm>
        </p:spPr>
        <p:txBody>
          <a:bodyPr>
            <a:normAutofit fontScale="90000"/>
          </a:bodyPr>
          <a:lstStyle/>
          <a:p>
            <a:r>
              <a:rPr lang="en-US" altLang="zh-CN" sz="2800" b="1" dirty="0">
                <a:solidFill>
                  <a:schemeClr val="bg1"/>
                </a:solidFill>
                <a:latin typeface="华文新魏" panose="02010800040101010101" pitchFamily="2" charset="-122"/>
                <a:ea typeface="华文新魏" panose="02010800040101010101" pitchFamily="2" charset="-122"/>
              </a:rPr>
              <a:t>2. </a:t>
            </a:r>
            <a:r>
              <a:rPr lang="zh-CN" altLang="en-US" sz="2800" b="1" dirty="0">
                <a:solidFill>
                  <a:schemeClr val="bg1"/>
                </a:solidFill>
                <a:latin typeface="华文新魏" panose="02010800040101010101" pitchFamily="2" charset="-122"/>
                <a:ea typeface="华文新魏" panose="02010800040101010101" pitchFamily="2" charset="-122"/>
              </a:rPr>
              <a:t>农业喷洒与农产品运输：生产力革命的</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劳动资料</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升级</a:t>
            </a:r>
          </a:p>
        </p:txBody>
      </p:sp>
      <p:pic>
        <p:nvPicPr>
          <p:cNvPr id="10" name="图片 9" descr="/private/var/folders/f6/7nsh5b515ts31ks591qt51480000gn/T/com.kingsoft.wpsoffice.mac/picturecompress_20221217152405/output_19.pngoutput_19"/>
          <p:cNvPicPr>
            <a:picLocks noChangeAspect="1"/>
          </p:cNvPicPr>
          <p:nvPr/>
        </p:nvPicPr>
        <p:blipFill>
          <a:blip r:embed="rId3"/>
          <a:stretch>
            <a:fillRect/>
          </a:stretch>
        </p:blipFill>
        <p:spPr>
          <a:xfrm>
            <a:off x="86069" y="128754"/>
            <a:ext cx="537819" cy="537819"/>
          </a:xfrm>
          <a:prstGeom prst="rect">
            <a:avLst/>
          </a:prstGeom>
        </p:spPr>
      </p:pic>
      <p:pic>
        <p:nvPicPr>
          <p:cNvPr id="11" name="图片 10" descr="/private/var/folders/f6/7nsh5b515ts31ks591qt51480000gn/T/com.kingsoft.wpsoffice.mac/picturecompress_20221217152405/output_20.pngoutput_20"/>
          <p:cNvPicPr>
            <a:picLocks noChangeAspect="1"/>
          </p:cNvPicPr>
          <p:nvPr/>
        </p:nvPicPr>
        <p:blipFill>
          <a:blip r:embed="rId4"/>
          <a:stretch>
            <a:fillRect/>
          </a:stretch>
        </p:blipFill>
        <p:spPr>
          <a:xfrm>
            <a:off x="9813778" y="90592"/>
            <a:ext cx="2135851" cy="627406"/>
          </a:xfrm>
          <a:prstGeom prst="rect">
            <a:avLst/>
          </a:prstGeom>
        </p:spPr>
      </p:pic>
      <p:sp>
        <p:nvSpPr>
          <p:cNvPr id="12" name="文本框 11"/>
          <p:cNvSpPr txBox="1"/>
          <p:nvPr/>
        </p:nvSpPr>
        <p:spPr>
          <a:xfrm>
            <a:off x="392430" y="1121410"/>
            <a:ext cx="11466195" cy="203132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在农业领域，无人机通过精准喷洒农药、监测作物生长、运输生鲜农产品，显著提高了生产效率。例如，新疆棉田使用无人机进行农药喷洒，作业效率是人工的数十倍；卢旺达的</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Zipline</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公司用无人机配送医疗物资和农产品，解决了偏远地区的运输难题。</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马克思主义视角</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：马克思主义政治经济学将生产工具作为</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劳动资料</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的核心，认为技术进步是生产力跃升的关键。无人机在农业中的应用，直接替代了部分传统人力劳动，推动了农业生产的规模化、智能化，体现了</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生产力决定生产关系</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的规律。同时，无人机运营催生的新型农业服务合作社（如中国农村的</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无人机植保队</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），也反映了生产关系适应技术变革的调整。</a:t>
            </a:r>
          </a:p>
        </p:txBody>
      </p:sp>
      <p:pic>
        <p:nvPicPr>
          <p:cNvPr id="15" name="图片 14" descr="1"/>
          <p:cNvPicPr>
            <a:picLocks noChangeAspect="1"/>
          </p:cNvPicPr>
          <p:nvPr/>
        </p:nvPicPr>
        <p:blipFill>
          <a:blip r:embed="rId5"/>
          <a:stretch>
            <a:fillRect/>
          </a:stretch>
        </p:blipFill>
        <p:spPr>
          <a:xfrm>
            <a:off x="624205" y="3206115"/>
            <a:ext cx="4801870" cy="2874010"/>
          </a:xfrm>
          <a:prstGeom prst="rect">
            <a:avLst/>
          </a:prstGeom>
        </p:spPr>
      </p:pic>
      <p:pic>
        <p:nvPicPr>
          <p:cNvPr id="16" name="图片 15" descr="2"/>
          <p:cNvPicPr>
            <a:picLocks noChangeAspect="1"/>
          </p:cNvPicPr>
          <p:nvPr/>
        </p:nvPicPr>
        <p:blipFill>
          <a:blip r:embed="rId6"/>
          <a:stretch>
            <a:fillRect/>
          </a:stretch>
        </p:blipFill>
        <p:spPr>
          <a:xfrm>
            <a:off x="6254115" y="3206750"/>
            <a:ext cx="5542915" cy="2920365"/>
          </a:xfrm>
          <a:prstGeom prst="rect">
            <a:avLst/>
          </a:prstGeom>
        </p:spPr>
      </p:pic>
    </p:spTree>
    <p:custDataLst>
      <p:tags r:id="rId1"/>
    </p:custDataLst>
    <p:extLst>
      <p:ext uri="{BB962C8B-B14F-4D97-AF65-F5344CB8AC3E}">
        <p14:creationId xmlns:p14="http://schemas.microsoft.com/office/powerpoint/2010/main" val="3613933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905"/>
            <a:ext cx="8876030" cy="663575"/>
          </a:xfrm>
        </p:spPr>
        <p:txBody>
          <a:bodyPr>
            <a:normAutofit fontScale="90000"/>
          </a:bodyPr>
          <a:lstStyle/>
          <a:p>
            <a:r>
              <a:rPr lang="en-US" altLang="zh-CN" sz="2800" b="1" dirty="0">
                <a:solidFill>
                  <a:schemeClr val="bg1"/>
                </a:solidFill>
                <a:latin typeface="华文新魏" panose="02010800040101010101" pitchFamily="2" charset="-122"/>
                <a:ea typeface="华文新魏" panose="02010800040101010101" pitchFamily="2" charset="-122"/>
              </a:rPr>
              <a:t>3. </a:t>
            </a:r>
            <a:r>
              <a:rPr lang="zh-CN" altLang="en-US" sz="2800" b="1" dirty="0">
                <a:solidFill>
                  <a:schemeClr val="bg1"/>
                </a:solidFill>
                <a:latin typeface="华文新魏" panose="02010800040101010101" pitchFamily="2" charset="-122"/>
                <a:ea typeface="华文新魏" panose="02010800040101010101" pitchFamily="2" charset="-122"/>
              </a:rPr>
              <a:t>交通管理与电力巡检：公共领域的</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社会总劳动</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优化</a:t>
            </a:r>
          </a:p>
        </p:txBody>
      </p:sp>
      <p:pic>
        <p:nvPicPr>
          <p:cNvPr id="9" name="图片 8" descr="/private/var/folders/f6/7nsh5b515ts31ks591qt51480000gn/T/com.kingsoft.wpsoffice.mac/picturecompress_20221217152405/output_24.pngoutput_24"/>
          <p:cNvPicPr>
            <a:picLocks noChangeAspect="1"/>
          </p:cNvPicPr>
          <p:nvPr/>
        </p:nvPicPr>
        <p:blipFill>
          <a:blip r:embed="rId5"/>
          <a:stretch>
            <a:fillRect/>
          </a:stretch>
        </p:blipFill>
        <p:spPr>
          <a:xfrm>
            <a:off x="86069" y="128754"/>
            <a:ext cx="537819" cy="537819"/>
          </a:xfrm>
          <a:prstGeom prst="rect">
            <a:avLst/>
          </a:prstGeom>
        </p:spPr>
      </p:pic>
      <p:pic>
        <p:nvPicPr>
          <p:cNvPr id="11" name="图片 10" descr="/private/var/folders/f6/7nsh5b515ts31ks591qt51480000gn/T/com.kingsoft.wpsoffice.mac/picturecompress_20221217152405/output_25.pngoutput_25"/>
          <p:cNvPicPr>
            <a:picLocks noChangeAspect="1"/>
          </p:cNvPicPr>
          <p:nvPr/>
        </p:nvPicPr>
        <p:blipFill>
          <a:blip r:embed="rId6"/>
          <a:stretch>
            <a:fillRect/>
          </a:stretch>
        </p:blipFill>
        <p:spPr>
          <a:xfrm>
            <a:off x="9813778" y="90592"/>
            <a:ext cx="2135851" cy="627406"/>
          </a:xfrm>
          <a:prstGeom prst="rect">
            <a:avLst/>
          </a:prstGeom>
        </p:spPr>
      </p:pic>
      <p:sp>
        <p:nvSpPr>
          <p:cNvPr id="5" name="文本框 4"/>
          <p:cNvSpPr txBox="1"/>
          <p:nvPr/>
        </p:nvSpPr>
        <p:spPr>
          <a:xfrm>
            <a:off x="354965" y="1143635"/>
            <a:ext cx="11332845" cy="1754326"/>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无人机参与城市交通监控、事故勘察、高速公路巡查，提升了交通管理效率；在电力行业，无人机自动巡检高压电线，降低了人工高空作业的风险。例如，深圳交警使用无人机处理交通事故，缩短了道路恢复时间；国家电网利用无人机巡检青藏高原输电线路，保障了电力安全。</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马克思主义视角</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：无人机在公共领域的应用，通过技术手段优化了社会劳动的配置</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将人力从高危、重复性劳动中解放，转向更高价值的创造性工作。</a:t>
            </a:r>
          </a:p>
        </p:txBody>
      </p:sp>
      <p:pic>
        <p:nvPicPr>
          <p:cNvPr id="15" name="2">
            <a:hlinkClick r:id="" action="ppaction://media"/>
          </p:cNvPr>
          <p:cNvPicPr/>
          <p:nvPr>
            <a:videoFile r:link="rId3"/>
            <p:extLst>
              <p:ext uri="{DAA4B4D4-6D71-4841-9C94-3DE7FCFB9230}">
                <p14:media xmlns:p14="http://schemas.microsoft.com/office/powerpoint/2010/main" r:embed="rId2"/>
              </p:ext>
            </p:extLst>
          </p:nvPr>
        </p:nvPicPr>
        <p:blipFill>
          <a:blip r:embed="rId7"/>
          <a:stretch>
            <a:fillRect/>
          </a:stretch>
        </p:blipFill>
        <p:spPr>
          <a:xfrm>
            <a:off x="3869055" y="3089275"/>
            <a:ext cx="8128000" cy="3657600"/>
          </a:xfrm>
          <a:prstGeom prst="rect">
            <a:avLst/>
          </a:prstGeom>
        </p:spPr>
      </p:pic>
    </p:spTree>
    <p:custDataLst>
      <p:tags r:id="rId1"/>
    </p:custDataLst>
    <p:extLst>
      <p:ext uri="{BB962C8B-B14F-4D97-AF65-F5344CB8AC3E}">
        <p14:creationId xmlns:p14="http://schemas.microsoft.com/office/powerpoint/2010/main" val="2191049790"/>
      </p:ext>
    </p:extLst>
  </p:cSld>
  <p:clrMapOvr>
    <a:masterClrMapping/>
  </p:clrMapOvr>
  <p:timing>
    <p:tnLst>
      <p:par>
        <p:cTn id="1" dur="indefinite" restart="never" nodeType="tmRoot">
          <p:childTnLst>
            <p:video>
              <p:cMediaNode>
                <p:cTn id="2" fill="hold" display="1">
                  <p:stCondLst>
                    <p:cond delay="indefinite"/>
                  </p:stCondLst>
                </p:cTn>
                <p:tgtEl>
                  <p:spTgt spid="15"/>
                </p:tgtEl>
              </p:cMediaNode>
            </p:video>
            <p:seq concurrent="1" nextAc="seek">
              <p:cTn id="3" restart="whenNotActive" fill="hold" evtFilter="cancelBubble" nodeType="interactiveSeq">
                <p:stCondLst>
                  <p:cond evt="onClick" delay="0">
                    <p:tgtEl>
                      <p:spTgt spid="15"/>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5"/>
                                        </p:tgtEl>
                                      </p:cBhvr>
                                    </p:cmd>
                                  </p:childTnLst>
                                </p:cTn>
                              </p:par>
                            </p:childTnLst>
                          </p:cTn>
                        </p:par>
                      </p:childTnLst>
                    </p:cTn>
                  </p:par>
                </p:childTnLst>
              </p:cTn>
              <p:nextCondLst>
                <p:cond evt="onClick" delay="0">
                  <p:tgtEl>
                    <p:spTgt spid="15"/>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private/var/folders/f6/7nsh5b515ts31ks591qt51480000gn/T/com.kingsoft.wpsoffice.mac/picturecompress_20221217152405/output_26.jpgoutput_26"/>
          <p:cNvPicPr>
            <a:picLocks noChangeAspect="1"/>
          </p:cNvPicPr>
          <p:nvPr/>
        </p:nvPicPr>
        <p:blipFill rotWithShape="1">
          <a:blip r:embed="rId3"/>
          <a:srcRect/>
          <a:stretch>
            <a:fillRect/>
          </a:stretch>
        </p:blipFill>
        <p:spPr>
          <a:xfrm>
            <a:off x="0" y="-148590"/>
            <a:ext cx="12192000" cy="7006590"/>
          </a:xfrm>
          <a:prstGeom prst="rect">
            <a:avLst/>
          </a:prstGeom>
        </p:spPr>
      </p:pic>
      <p:sp>
        <p:nvSpPr>
          <p:cNvPr id="4" name="PA-矩形 5"/>
          <p:cNvSpPr/>
          <p:nvPr>
            <p:custDataLst>
              <p:tags r:id="rId1"/>
            </p:custDataLst>
          </p:nvPr>
        </p:nvSpPr>
        <p:spPr>
          <a:xfrm>
            <a:off x="0" y="-212652"/>
            <a:ext cx="12192000" cy="7070652"/>
          </a:xfrm>
          <a:prstGeom prst="rect">
            <a:avLst/>
          </a:prstGeom>
          <a:solidFill>
            <a:srgbClr val="7A0000">
              <a:alpha val="84706"/>
            </a:srgbClr>
          </a:solidFill>
          <a:ln>
            <a:solidFill>
              <a:srgbClr val="9C0000"/>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096000" y="1038225"/>
            <a:ext cx="4795463" cy="5755713"/>
          </a:xfrm>
        </p:spPr>
        <p:txBody>
          <a:bodyPr>
            <a:noAutofit/>
          </a:bodyPr>
          <a:lstStyle/>
          <a:p>
            <a:pPr algn="ctr"/>
            <a:r>
              <a:rPr lang="en-US" altLang="zh-CN" sz="480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38100" dist="38100" dir="2700000" algn="tl">
                    <a:srgbClr val="000000">
                      <a:alpha val="43137"/>
                    </a:srgbClr>
                  </a:outerShdw>
                </a:effectLst>
                <a:latin typeface="Imprint MT Shadow" panose="04020605060303030202" pitchFamily="82" charset="0"/>
              </a:rPr>
              <a:t>3</a:t>
            </a:r>
            <a:endParaRPr lang="zh-CN" altLang="en-US" sz="480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38100" dist="38100" dir="2700000" algn="tl">
                  <a:srgbClr val="000000">
                    <a:alpha val="43137"/>
                  </a:srgbClr>
                </a:outerShdw>
              </a:effectLst>
              <a:latin typeface="Imprint MT Shadow" panose="04020605060303030202" pitchFamily="82" charset="0"/>
            </a:endParaRPr>
          </a:p>
        </p:txBody>
      </p:sp>
      <p:sp>
        <p:nvSpPr>
          <p:cNvPr id="9" name="文本框 8"/>
          <p:cNvSpPr txBox="1"/>
          <p:nvPr/>
        </p:nvSpPr>
        <p:spPr>
          <a:xfrm>
            <a:off x="1406014" y="2281084"/>
            <a:ext cx="5979476"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0" normalizeH="0" baseline="0" noProof="0" dirty="0">
                <a:ln>
                  <a:noFill/>
                </a:ln>
                <a:gradFill>
                  <a:gsLst>
                    <a:gs pos="31000">
                      <a:srgbClr val="A5A5A5">
                        <a:lumMod val="0"/>
                        <a:lumOff val="100000"/>
                      </a:srgbClr>
                    </a:gs>
                    <a:gs pos="51000">
                      <a:srgbClr val="A5A5A5">
                        <a:lumMod val="0"/>
                        <a:lumOff val="100000"/>
                      </a:srgbClr>
                    </a:gs>
                    <a:gs pos="100000">
                      <a:srgbClr val="A5A5A5">
                        <a:lumMod val="100000"/>
                      </a:srgbClr>
                    </a:gs>
                  </a:gsLst>
                  <a:path path="circle">
                    <a:fillToRect l="50000" t="-80000" r="50000" b="180000"/>
                  </a:path>
                </a:gradFill>
                <a:effectLst>
                  <a:outerShdw blurRad="50800" dist="38100" dir="2700000" algn="tl" rotWithShape="0">
                    <a:prstClr val="black">
                      <a:alpha val="40000"/>
                    </a:prstClr>
                  </a:outerShdw>
                </a:effectLst>
                <a:uLnTx/>
                <a:uFillTx/>
                <a:latin typeface="华文宋体" panose="02010600040101010101" pitchFamily="2" charset="-122"/>
                <a:ea typeface="华文宋体" panose="02010600040101010101" pitchFamily="2" charset="-122"/>
                <a:cs typeface="+mn-cs"/>
              </a:rPr>
              <a:t>马原钥匙解锁发展密码</a:t>
            </a:r>
          </a:p>
        </p:txBody>
      </p:sp>
    </p:spTree>
    <p:extLst>
      <p:ext uri="{BB962C8B-B14F-4D97-AF65-F5344CB8AC3E}">
        <p14:creationId xmlns:p14="http://schemas.microsoft.com/office/powerpoint/2010/main" val="2078891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1794510"/>
            <a:ext cx="12192000" cy="1634490"/>
          </a:xfrm>
          <a:prstGeom prst="rect">
            <a:avLst/>
          </a:prstGeom>
          <a:solidFill>
            <a:srgbClr val="912727"/>
          </a:solidFill>
          <a:ln>
            <a:solidFill>
              <a:srgbClr val="912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754"/>
            <a:ext cx="235077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理论分析</a:t>
            </a:r>
          </a:p>
        </p:txBody>
      </p:sp>
      <p:pic>
        <p:nvPicPr>
          <p:cNvPr id="6" name="图片 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2368" y="1421220"/>
            <a:ext cx="3623972" cy="241536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流程图: 接点 7"/>
          <p:cNvSpPr/>
          <p:nvPr>
            <p:custDataLst>
              <p:tags r:id="rId2"/>
            </p:custDataLst>
          </p:nvPr>
        </p:nvSpPr>
        <p:spPr>
          <a:xfrm>
            <a:off x="1382368" y="4209870"/>
            <a:ext cx="770562" cy="800100"/>
          </a:xfrm>
          <a:prstGeom prst="flowChartConnector">
            <a:avLst/>
          </a:prstGeom>
          <a:solidFill>
            <a:srgbClr val="9C0000"/>
          </a:solidFill>
          <a:ln>
            <a:solidFill>
              <a:srgbClr val="7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9" name="图形 8" descr="打开的书"/>
          <p:cNvPicPr>
            <a:picLocks noChangeAspect="1"/>
          </p:cNvPicPr>
          <p:nvPr>
            <p:custDataLst>
              <p:tags r:id="rId3"/>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74516" y="4316787"/>
            <a:ext cx="586266" cy="586266"/>
          </a:xfrm>
          <a:prstGeom prst="rect">
            <a:avLst/>
          </a:prstGeom>
        </p:spPr>
      </p:pic>
      <p:sp>
        <p:nvSpPr>
          <p:cNvPr id="10" name="文本框 9"/>
          <p:cNvSpPr txBox="1"/>
          <p:nvPr>
            <p:custDataLst>
              <p:tags r:id="rId4"/>
            </p:custDataLst>
          </p:nvPr>
        </p:nvSpPr>
        <p:spPr>
          <a:xfrm>
            <a:off x="2245078" y="4348310"/>
            <a:ext cx="3428715"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9A0000"/>
                </a:solidFill>
                <a:effectLst/>
                <a:uLnTx/>
                <a:uFillTx/>
                <a:latin typeface="华文新魏" panose="02010800040101010101" pitchFamily="2" charset="-122"/>
                <a:ea typeface="华文新魏" panose="02010800040101010101" pitchFamily="2" charset="-122"/>
                <a:cs typeface="+mn-cs"/>
              </a:rPr>
              <a:t>1.</a:t>
            </a:r>
            <a:r>
              <a:rPr kumimoji="0" lang="zh-CN" altLang="en-US" sz="2800" b="1" i="0" u="none" strike="noStrike" kern="1200" cap="none" spc="0" normalizeH="0" baseline="0" noProof="0" dirty="0">
                <a:ln>
                  <a:noFill/>
                </a:ln>
                <a:solidFill>
                  <a:srgbClr val="9A0000"/>
                </a:solidFill>
                <a:effectLst/>
                <a:uLnTx/>
                <a:uFillTx/>
                <a:latin typeface="方正姚体" panose="02010601030101010101" pitchFamily="2" charset="-122"/>
                <a:ea typeface="方正姚体" panose="02010601030101010101" pitchFamily="2" charset="-122"/>
              </a:rPr>
              <a:t>生产力的跃升：</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9A0000"/>
                </a:solidFill>
                <a:effectLst/>
                <a:uLnTx/>
                <a:uFillTx/>
                <a:latin typeface="方正姚体" panose="02010601030101010101" pitchFamily="2" charset="-122"/>
                <a:ea typeface="方正姚体" panose="02010601030101010101" pitchFamily="2" charset="-122"/>
              </a:rPr>
              <a:t>科技是根本动力</a:t>
            </a:r>
          </a:p>
        </p:txBody>
      </p:sp>
      <p:sp>
        <p:nvSpPr>
          <p:cNvPr id="11" name="文本框 10"/>
          <p:cNvSpPr txBox="1"/>
          <p:nvPr>
            <p:custDataLst>
              <p:tags r:id="rId5"/>
            </p:custDataLst>
          </p:nvPr>
        </p:nvSpPr>
        <p:spPr>
          <a:xfrm>
            <a:off x="7547610" y="4316730"/>
            <a:ext cx="3998595"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9A0000"/>
                </a:solidFill>
                <a:effectLst/>
                <a:uLnTx/>
                <a:uFillTx/>
                <a:latin typeface="华文新魏" panose="02010800040101010101" pitchFamily="2" charset="-122"/>
                <a:ea typeface="华文新魏" panose="02010800040101010101" pitchFamily="2" charset="-122"/>
                <a:cs typeface="+mn-cs"/>
              </a:rPr>
              <a:t>2.</a:t>
            </a:r>
            <a:r>
              <a:rPr kumimoji="0" lang="zh-CN" altLang="en-US" sz="2800" b="1" i="0" u="none" strike="noStrike" kern="1200" cap="none" spc="0" normalizeH="0" baseline="0" noProof="0" dirty="0">
                <a:ln>
                  <a:noFill/>
                </a:ln>
                <a:solidFill>
                  <a:srgbClr val="9A0000"/>
                </a:solidFill>
                <a:effectLst/>
                <a:uLnTx/>
                <a:uFillTx/>
                <a:latin typeface="方正姚体" panose="02010601030101010101" pitchFamily="2" charset="-122"/>
                <a:ea typeface="方正姚体" panose="02010601030101010101" pitchFamily="2" charset="-122"/>
              </a:rPr>
              <a:t>生产关系的调适：</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9A0000"/>
                </a:solidFill>
                <a:effectLst/>
                <a:uLnTx/>
                <a:uFillTx/>
                <a:latin typeface="方正姚体" panose="02010601030101010101" pitchFamily="2" charset="-122"/>
                <a:ea typeface="方正姚体" panose="02010601030101010101" pitchFamily="2" charset="-122"/>
              </a:rPr>
              <a:t>适应并反作用于生产力</a:t>
            </a:r>
          </a:p>
        </p:txBody>
      </p:sp>
      <p:sp>
        <p:nvSpPr>
          <p:cNvPr id="12" name="流程图: 接点 11"/>
          <p:cNvSpPr/>
          <p:nvPr>
            <p:custDataLst>
              <p:tags r:id="rId6"/>
            </p:custDataLst>
          </p:nvPr>
        </p:nvSpPr>
        <p:spPr>
          <a:xfrm>
            <a:off x="6696385" y="4209870"/>
            <a:ext cx="770562" cy="800100"/>
          </a:xfrm>
          <a:prstGeom prst="flowChartConnector">
            <a:avLst/>
          </a:prstGeom>
          <a:solidFill>
            <a:srgbClr val="9C0000"/>
          </a:solidFill>
          <a:ln>
            <a:solidFill>
              <a:srgbClr val="7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13" name="图形 12" descr="书架上的书籍"/>
          <p:cNvPicPr>
            <a:picLocks noChangeAspect="1"/>
          </p:cNvPicPr>
          <p:nvPr>
            <p:custDataLst>
              <p:tags r:id="rId7"/>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761891" y="4290145"/>
            <a:ext cx="639549" cy="639549"/>
          </a:xfrm>
          <a:prstGeom prst="rect">
            <a:avLst/>
          </a:prstGeom>
        </p:spPr>
      </p:pic>
      <p:sp>
        <p:nvSpPr>
          <p:cNvPr id="14" name="文本框 13"/>
          <p:cNvSpPr txBox="1"/>
          <p:nvPr>
            <p:custDataLst>
              <p:tags r:id="rId8"/>
            </p:custDataLst>
          </p:nvPr>
        </p:nvSpPr>
        <p:spPr>
          <a:xfrm>
            <a:off x="2245078" y="5009970"/>
            <a:ext cx="3046095"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华文宋体" panose="02010600040101010101" pitchFamily="2" charset="-122"/>
                <a:ea typeface="华文宋体" panose="02010600040101010101" pitchFamily="2" charset="-122"/>
                <a:cs typeface="+mn-cs"/>
                <a:sym typeface="+mn-ea"/>
              </a:rPr>
              <a:t>。</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5" name="文本框 14"/>
          <p:cNvSpPr txBox="1"/>
          <p:nvPr>
            <p:custDataLst>
              <p:tags r:id="rId9"/>
            </p:custDataLst>
          </p:nvPr>
        </p:nvSpPr>
        <p:spPr>
          <a:xfrm>
            <a:off x="7547665" y="5009969"/>
            <a:ext cx="3046095"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华文宋体" panose="02010600040101010101" pitchFamily="2" charset="-122"/>
                <a:ea typeface="华文宋体" panose="02010600040101010101" pitchFamily="2" charset="-122"/>
                <a:cs typeface="+mn-cs"/>
                <a:sym typeface="+mn-ea"/>
              </a:rPr>
              <a:t>。</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pic>
        <p:nvPicPr>
          <p:cNvPr id="3" name="图片 2" descr="/private/var/folders/f6/7nsh5b515ts31ks591qt51480000gn/T/com.kingsoft.wpsoffice.mac/picturecompress_20221217152405/output_29.pngoutput_29"/>
          <p:cNvPicPr>
            <a:picLocks noChangeAspect="1"/>
          </p:cNvPicPr>
          <p:nvPr/>
        </p:nvPicPr>
        <p:blipFill>
          <a:blip r:embed="rId16"/>
          <a:stretch>
            <a:fillRect/>
          </a:stretch>
        </p:blipFill>
        <p:spPr>
          <a:xfrm>
            <a:off x="86069" y="128754"/>
            <a:ext cx="537819" cy="537819"/>
          </a:xfrm>
          <a:prstGeom prst="rect">
            <a:avLst/>
          </a:prstGeom>
        </p:spPr>
      </p:pic>
      <p:pic>
        <p:nvPicPr>
          <p:cNvPr id="16" name="图片 15" descr="/private/var/folders/f6/7nsh5b515ts31ks591qt51480000gn/T/com.kingsoft.wpsoffice.mac/picturecompress_20221217152405/output_30.pngoutput_30"/>
          <p:cNvPicPr>
            <a:picLocks noChangeAspect="1"/>
          </p:cNvPicPr>
          <p:nvPr/>
        </p:nvPicPr>
        <p:blipFill>
          <a:blip r:embed="rId17"/>
          <a:stretch>
            <a:fillRect/>
          </a:stretch>
        </p:blipFill>
        <p:spPr>
          <a:xfrm>
            <a:off x="9813778" y="90592"/>
            <a:ext cx="2135851" cy="627406"/>
          </a:xfrm>
          <a:prstGeom prst="rect">
            <a:avLst/>
          </a:prstGeom>
        </p:spPr>
      </p:pic>
    </p:spTree>
    <p:custDataLst>
      <p:tags r:id="rId1"/>
    </p:custDataLst>
    <p:extLst>
      <p:ext uri="{BB962C8B-B14F-4D97-AF65-F5344CB8AC3E}">
        <p14:creationId xmlns:p14="http://schemas.microsoft.com/office/powerpoint/2010/main" val="46224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373860" y="2055749"/>
            <a:ext cx="7452617" cy="4467954"/>
          </a:xfrm>
          <a:prstGeom prst="roundRect">
            <a:avLst/>
          </a:prstGeom>
          <a:ln w="38100">
            <a:solidFill>
              <a:srgbClr val="DF6F6F"/>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0" name="矩形: 圆角 9"/>
          <p:cNvSpPr/>
          <p:nvPr/>
        </p:nvSpPr>
        <p:spPr>
          <a:xfrm>
            <a:off x="842481" y="1671192"/>
            <a:ext cx="3322777" cy="523220"/>
          </a:xfrm>
          <a:prstGeom prst="round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p:cNvSpPr/>
          <p:nvPr/>
        </p:nvSpPr>
        <p:spPr>
          <a:xfrm>
            <a:off x="0" y="-65753"/>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一</a:t>
            </a:r>
            <a:r>
              <a:rPr kumimoji="0" lang="en-US" altLang="zh-CN"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生产力的发展：科技是第一生产力</a:t>
            </a:r>
          </a:p>
        </p:txBody>
      </p:sp>
      <p:sp>
        <p:nvSpPr>
          <p:cNvPr id="2" name="标题 1"/>
          <p:cNvSpPr>
            <a:spLocks noGrp="1"/>
          </p:cNvSpPr>
          <p:nvPr>
            <p:ph type="title"/>
          </p:nvPr>
        </p:nvSpPr>
        <p:spPr>
          <a:xfrm>
            <a:off x="660400" y="334297"/>
            <a:ext cx="182081" cy="458032"/>
          </a:xfrm>
        </p:spPr>
        <p:txBody>
          <a:bodyPr>
            <a:normAutofit fontScale="90000"/>
          </a:bodyPr>
          <a:lstStyle/>
          <a:p>
            <a:endParaRPr lang="zh-CN" altLang="en-US" sz="2800" b="1" dirty="0">
              <a:solidFill>
                <a:schemeClr val="bg1"/>
              </a:solidFill>
              <a:latin typeface="华文新魏" panose="02010800040101010101" pitchFamily="2" charset="-122"/>
              <a:ea typeface="华文新魏" panose="02010800040101010101" pitchFamily="2" charset="-122"/>
            </a:endParaRPr>
          </a:p>
        </p:txBody>
      </p:sp>
      <p:sp>
        <p:nvSpPr>
          <p:cNvPr id="9" name="文本框 8"/>
          <p:cNvSpPr txBox="1"/>
          <p:nvPr/>
        </p:nvSpPr>
        <p:spPr>
          <a:xfrm>
            <a:off x="1080770" y="1716405"/>
            <a:ext cx="3487420"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1.</a:t>
            </a:r>
            <a:r>
              <a:rPr kumimoji="0" lang="zh-CN" altLang="en-US" sz="2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劳动资料的革命</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cs typeface="+mn-cs"/>
              <a:sym typeface="+mn-ea"/>
            </a:endParaRPr>
          </a:p>
        </p:txBody>
      </p:sp>
      <p:sp>
        <p:nvSpPr>
          <p:cNvPr id="11" name="文本框 10"/>
          <p:cNvSpPr txBox="1"/>
          <p:nvPr/>
        </p:nvSpPr>
        <p:spPr>
          <a:xfrm>
            <a:off x="842481" y="2578969"/>
            <a:ext cx="6738010" cy="3600986"/>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技术升级与生产力提升</a:t>
            </a:r>
            <a:r>
              <a:rPr kumimoji="0" lang="zh-CN" altLang="en-US" sz="3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无人机在医疗、农业等多领域有广泛应用：北川茶园利用多光谱无人机进行巡查，提高茶园管理效率。这体现了</a:t>
            </a:r>
            <a:r>
              <a:rPr kumimoji="0" lang="zh-CN" altLang="en-US"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先进技术物化为生产工具</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，直接提升了劳动生产率。 </a:t>
            </a:r>
            <a:endPar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工具智能化与社会化生产</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中国移动构建的“低空通感网络”和平台，正是生产工具社会化的体现，符合马克思主义中</a:t>
            </a:r>
            <a:r>
              <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生产工具革新推动生产方式变革</a:t>
            </a:r>
            <a:r>
              <a:rPr kumimoji="0" lang="zh-CN" altLang="en-US" sz="24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的规律</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b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b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cxnSp>
        <p:nvCxnSpPr>
          <p:cNvPr id="14" name="直接连接符 13"/>
          <p:cNvCxnSpPr/>
          <p:nvPr/>
        </p:nvCxnSpPr>
        <p:spPr>
          <a:xfrm>
            <a:off x="8455630" y="2242609"/>
            <a:ext cx="0" cy="3363436"/>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pic>
        <p:nvPicPr>
          <p:cNvPr id="6" name="图片 5" descr="/private/var/folders/f6/7nsh5b515ts31ks591qt51480000gn/T/com.kingsoft.wpsoffice.mac/picturecompress_20221217152405/output_41.pngoutput_41"/>
          <p:cNvPicPr>
            <a:picLocks noChangeAspect="1"/>
          </p:cNvPicPr>
          <p:nvPr/>
        </p:nvPicPr>
        <p:blipFill>
          <a:blip r:embed="rId2"/>
          <a:stretch>
            <a:fillRect/>
          </a:stretch>
        </p:blipFill>
        <p:spPr>
          <a:xfrm>
            <a:off x="86069" y="128754"/>
            <a:ext cx="537819" cy="537819"/>
          </a:xfrm>
          <a:prstGeom prst="rect">
            <a:avLst/>
          </a:prstGeom>
        </p:spPr>
      </p:pic>
      <p:pic>
        <p:nvPicPr>
          <p:cNvPr id="7" name="图片 6" descr="/private/var/folders/f6/7nsh5b515ts31ks591qt51480000gn/T/com.kingsoft.wpsoffice.mac/picturecompress_20221217152405/output_42.pngoutput_42"/>
          <p:cNvPicPr>
            <a:picLocks noChangeAspect="1"/>
          </p:cNvPicPr>
          <p:nvPr/>
        </p:nvPicPr>
        <p:blipFill>
          <a:blip r:embed="rId3"/>
          <a:stretch>
            <a:fillRect/>
          </a:stretch>
        </p:blipFill>
        <p:spPr>
          <a:xfrm>
            <a:off x="9813778" y="90592"/>
            <a:ext cx="2135851" cy="627406"/>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6744" y="1139118"/>
            <a:ext cx="3807357" cy="2357497"/>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1746" y="3429000"/>
            <a:ext cx="3945429" cy="2943214"/>
          </a:xfrm>
          <a:prstGeom prst="rect">
            <a:avLst/>
          </a:prstGeom>
        </p:spPr>
      </p:pic>
    </p:spTree>
    <p:extLst>
      <p:ext uri="{BB962C8B-B14F-4D97-AF65-F5344CB8AC3E}">
        <p14:creationId xmlns:p14="http://schemas.microsoft.com/office/powerpoint/2010/main" val="4251716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842481" y="2242609"/>
            <a:ext cx="7263830" cy="3473470"/>
          </a:xfrm>
          <a:prstGeom prst="roundRect">
            <a:avLst/>
          </a:prstGeom>
          <a:ln w="38100">
            <a:solidFill>
              <a:srgbClr val="DF6F6F"/>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0" name="矩形: 圆角 9"/>
          <p:cNvSpPr/>
          <p:nvPr/>
        </p:nvSpPr>
        <p:spPr>
          <a:xfrm>
            <a:off x="1044339" y="1696194"/>
            <a:ext cx="3322777" cy="523220"/>
          </a:xfrm>
          <a:prstGeom prst="round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sym typeface="+mn-ea"/>
              </a:rPr>
              <a:t>一</a:t>
            </a:r>
            <a:r>
              <a:rPr kumimoji="0" lang="en-US" altLang="zh-CN"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sym typeface="+mn-ea"/>
              </a:rPr>
              <a:t>.</a:t>
            </a:r>
            <a:r>
              <a:rPr kumimoji="0" lang="zh-CN" altLang="en-US"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sym typeface="+mn-ea"/>
              </a:rPr>
              <a:t>生产力的发展：科技是第一生产力</a:t>
            </a:r>
            <a:endParaRPr kumimoji="0" lang="zh-CN" altLang="en-US"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754"/>
            <a:ext cx="2350770" cy="663575"/>
          </a:xfrm>
        </p:spPr>
        <p:txBody>
          <a:bodyPr>
            <a:normAutofit/>
          </a:bodyPr>
          <a:lstStyle/>
          <a:p>
            <a:endParaRPr lang="zh-CN" altLang="en-US" sz="2800" b="1" dirty="0">
              <a:solidFill>
                <a:schemeClr val="bg1"/>
              </a:solidFill>
              <a:latin typeface="华文新魏" panose="02010800040101010101" pitchFamily="2" charset="-122"/>
              <a:ea typeface="华文新魏" panose="02010800040101010101" pitchFamily="2" charset="-122"/>
            </a:endParaRPr>
          </a:p>
        </p:txBody>
      </p:sp>
      <p:sp>
        <p:nvSpPr>
          <p:cNvPr id="9" name="文本框 8"/>
          <p:cNvSpPr txBox="1"/>
          <p:nvPr/>
        </p:nvSpPr>
        <p:spPr>
          <a:xfrm>
            <a:off x="1193800" y="1696085"/>
            <a:ext cx="3042285"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2.</a:t>
            </a:r>
            <a:r>
              <a:rPr kumimoji="0" lang="zh-CN" altLang="en-US" sz="32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劳动对象拓展</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cs typeface="+mn-cs"/>
              <a:sym typeface="+mn-ea"/>
            </a:endParaRPr>
          </a:p>
        </p:txBody>
      </p:sp>
      <p:sp>
        <p:nvSpPr>
          <p:cNvPr id="11" name="文本框 10"/>
          <p:cNvSpPr txBox="1"/>
          <p:nvPr/>
        </p:nvSpPr>
        <p:spPr>
          <a:xfrm>
            <a:off x="895083" y="2453425"/>
            <a:ext cx="7311188" cy="34470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马克思主义强调，</a:t>
            </a: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劳动对象是生产力的基本要素之一</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，其范围的扩大反映了人类改造自然能力的提升。低空经济将原本未被充分利用的空域转化为具有经济价值的劳动对象。</a:t>
            </a:r>
            <a:endParaRPr kumimoji="0" lang="en-US" altLang="zh-CN" sz="2000" b="0" i="0" u="none" strike="noStrike" kern="1200" cap="none" spc="0" normalizeH="0" baseline="0" noProof="0" dirty="0">
              <a:ln>
                <a:noFill/>
              </a:ln>
              <a:solidFill>
                <a:prstClr val="black"/>
              </a:solidFill>
              <a:effectLst/>
              <a:uLnTx/>
              <a:uFillTx/>
              <a:latin typeface="华文宋体" panose="02010600040101010101" pitchFamily="2" charset="-122"/>
              <a:ea typeface="华文宋体" panose="02010600040101010101" pitchFamily="2"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自然空间的经济化</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：过低空空域协同管理试点，将</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7800</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平方公里空域转化为可开发利用的资源，用于物流、旅游、巡检等。这体现了人类活动范围向三维空间拓展，是劳动对象从地表向低空的延伸。</a:t>
            </a:r>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新业态与新价值</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：低空旅游、无人机物流、空中巡检等应用，创造了新的消费场景和生产模式（如低空物流驿站与道路巡检）。这印证了</a:t>
            </a: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科技革命能够开辟新的劳动领域</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，使原本未被开发的空域成为价值增值的载体。</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cxnSp>
        <p:nvCxnSpPr>
          <p:cNvPr id="14" name="直接连接符 13"/>
          <p:cNvCxnSpPr/>
          <p:nvPr/>
        </p:nvCxnSpPr>
        <p:spPr>
          <a:xfrm>
            <a:off x="8455630" y="2242609"/>
            <a:ext cx="0" cy="3363436"/>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pic>
        <p:nvPicPr>
          <p:cNvPr id="6" name="图片 5" descr="/private/var/folders/f6/7nsh5b515ts31ks591qt51480000gn/T/com.kingsoft.wpsoffice.mac/picturecompress_20221217152405/output_41.pngoutput_41"/>
          <p:cNvPicPr>
            <a:picLocks noChangeAspect="1"/>
          </p:cNvPicPr>
          <p:nvPr/>
        </p:nvPicPr>
        <p:blipFill>
          <a:blip r:embed="rId2"/>
          <a:stretch>
            <a:fillRect/>
          </a:stretch>
        </p:blipFill>
        <p:spPr>
          <a:xfrm>
            <a:off x="86069" y="128754"/>
            <a:ext cx="537819" cy="537819"/>
          </a:xfrm>
          <a:prstGeom prst="rect">
            <a:avLst/>
          </a:prstGeom>
        </p:spPr>
      </p:pic>
      <p:pic>
        <p:nvPicPr>
          <p:cNvPr id="7" name="图片 6" descr="/private/var/folders/f6/7nsh5b515ts31ks591qt51480000gn/T/com.kingsoft.wpsoffice.mac/picturecompress_20221217152405/output_42.pngoutput_42"/>
          <p:cNvPicPr>
            <a:picLocks noChangeAspect="1"/>
          </p:cNvPicPr>
          <p:nvPr/>
        </p:nvPicPr>
        <p:blipFill>
          <a:blip r:embed="rId3"/>
          <a:stretch>
            <a:fillRect/>
          </a:stretch>
        </p:blipFill>
        <p:spPr>
          <a:xfrm>
            <a:off x="9813778" y="90592"/>
            <a:ext cx="2135851" cy="627406"/>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4413" y="1550262"/>
            <a:ext cx="3761637" cy="2115656"/>
          </a:xfrm>
          <a:prstGeom prst="rect">
            <a:avLst/>
          </a:prstGeom>
        </p:spPr>
      </p:pic>
      <p:pic>
        <p:nvPicPr>
          <p:cNvPr id="15" name="图片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39265" y="3638905"/>
            <a:ext cx="3811931" cy="2659487"/>
          </a:xfrm>
          <a:prstGeom prst="rect">
            <a:avLst/>
          </a:prstGeom>
        </p:spPr>
      </p:pic>
    </p:spTree>
    <p:extLst>
      <p:ext uri="{BB962C8B-B14F-4D97-AF65-F5344CB8AC3E}">
        <p14:creationId xmlns:p14="http://schemas.microsoft.com/office/powerpoint/2010/main" val="2288480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842482" y="2242609"/>
            <a:ext cx="7263830" cy="3473470"/>
          </a:xfrm>
          <a:prstGeom prst="roundRect">
            <a:avLst/>
          </a:prstGeom>
          <a:ln w="38100">
            <a:solidFill>
              <a:srgbClr val="DF6F6F"/>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0" name="矩形: 圆角 9"/>
          <p:cNvSpPr/>
          <p:nvPr/>
        </p:nvSpPr>
        <p:spPr>
          <a:xfrm>
            <a:off x="1246196" y="1782965"/>
            <a:ext cx="3322777" cy="523220"/>
          </a:xfrm>
          <a:prstGeom prst="round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sym typeface="+mn-ea"/>
              </a:rPr>
              <a:t>一</a:t>
            </a:r>
            <a:r>
              <a:rPr kumimoji="0" lang="en-US" altLang="zh-CN"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sym typeface="+mn-ea"/>
              </a:rPr>
              <a:t>.</a:t>
            </a:r>
            <a:r>
              <a:rPr kumimoji="0" lang="zh-CN" altLang="en-US"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sym typeface="+mn-ea"/>
              </a:rPr>
              <a:t>生产力的发展：科技是第一生产力</a:t>
            </a:r>
            <a:endParaRPr kumimoji="0" lang="zh-CN" altLang="en-US" sz="3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754"/>
            <a:ext cx="2350770" cy="663575"/>
          </a:xfrm>
        </p:spPr>
        <p:txBody>
          <a:bodyPr>
            <a:normAutofit/>
          </a:bodyPr>
          <a:lstStyle/>
          <a:p>
            <a:endParaRPr lang="zh-CN" altLang="en-US" sz="2800" b="1" dirty="0">
              <a:solidFill>
                <a:schemeClr val="bg1"/>
              </a:solidFill>
              <a:latin typeface="华文新魏" panose="02010800040101010101" pitchFamily="2" charset="-122"/>
              <a:ea typeface="华文新魏" panose="02010800040101010101" pitchFamily="2" charset="-122"/>
            </a:endParaRPr>
          </a:p>
        </p:txBody>
      </p:sp>
      <p:sp>
        <p:nvSpPr>
          <p:cNvPr id="9" name="文本框 8"/>
          <p:cNvSpPr txBox="1"/>
          <p:nvPr/>
        </p:nvSpPr>
        <p:spPr>
          <a:xfrm>
            <a:off x="1246505" y="1783080"/>
            <a:ext cx="3596640"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3.</a:t>
            </a:r>
            <a:r>
              <a:rPr kumimoji="0" lang="zh-CN" altLang="en-US" sz="32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劳动者技能提升</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cs typeface="+mn-cs"/>
              <a:sym typeface="+mn-ea"/>
            </a:endParaRPr>
          </a:p>
        </p:txBody>
      </p:sp>
      <p:sp>
        <p:nvSpPr>
          <p:cNvPr id="11" name="文本框 10"/>
          <p:cNvSpPr txBox="1"/>
          <p:nvPr/>
        </p:nvSpPr>
        <p:spPr>
          <a:xfrm>
            <a:off x="1017431" y="2511380"/>
            <a:ext cx="6821792" cy="270843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马克思主义认为，</a:t>
            </a:r>
            <a:r>
              <a:rPr kumimoji="0" lang="zh-CN" altLang="en-US"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劳动者是生产力的主导因素</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，其技能水平需与生产工具的发展相适应。无人机技术的普及催生了新型职业技能需求。</a:t>
            </a:r>
            <a:endPar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科技解放与赋能劳动者</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无人机替代了部分高危、重复性劳动（如湖面巡查、高空作业），使劳动者能更专注于创造性工作。同时，“共享无人机”等模式降低了技术使用门槛，让普通游客也能通过简单操作享受科技红利，这符合科技提升劳动者自主性与创造性的马克思主义观点。</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cxnSp>
        <p:nvCxnSpPr>
          <p:cNvPr id="14" name="直接连接符 13"/>
          <p:cNvCxnSpPr/>
          <p:nvPr/>
        </p:nvCxnSpPr>
        <p:spPr>
          <a:xfrm>
            <a:off x="8455630" y="2242609"/>
            <a:ext cx="0" cy="3363436"/>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pic>
        <p:nvPicPr>
          <p:cNvPr id="6" name="图片 5" descr="/private/var/folders/f6/7nsh5b515ts31ks591qt51480000gn/T/com.kingsoft.wpsoffice.mac/picturecompress_20221217152405/output_41.pngoutput_41"/>
          <p:cNvPicPr>
            <a:picLocks noChangeAspect="1"/>
          </p:cNvPicPr>
          <p:nvPr/>
        </p:nvPicPr>
        <p:blipFill>
          <a:blip r:embed="rId2"/>
          <a:stretch>
            <a:fillRect/>
          </a:stretch>
        </p:blipFill>
        <p:spPr>
          <a:xfrm>
            <a:off x="86069" y="128754"/>
            <a:ext cx="537819" cy="537819"/>
          </a:xfrm>
          <a:prstGeom prst="rect">
            <a:avLst/>
          </a:prstGeom>
        </p:spPr>
      </p:pic>
      <p:pic>
        <p:nvPicPr>
          <p:cNvPr id="7" name="图片 6" descr="/private/var/folders/f6/7nsh5b515ts31ks591qt51480000gn/T/com.kingsoft.wpsoffice.mac/picturecompress_20221217152405/output_42.pngoutput_42"/>
          <p:cNvPicPr>
            <a:picLocks noChangeAspect="1"/>
          </p:cNvPicPr>
          <p:nvPr/>
        </p:nvPicPr>
        <p:blipFill>
          <a:blip r:embed="rId3"/>
          <a:stretch>
            <a:fillRect/>
          </a:stretch>
        </p:blipFill>
        <p:spPr>
          <a:xfrm>
            <a:off x="9813778" y="90592"/>
            <a:ext cx="2135851" cy="627406"/>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6311" y="3352053"/>
            <a:ext cx="3664977" cy="2913520"/>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06313" y="965648"/>
            <a:ext cx="3594144" cy="2676379"/>
          </a:xfrm>
          <a:prstGeom prst="rect">
            <a:avLst/>
          </a:prstGeom>
        </p:spPr>
      </p:pic>
    </p:spTree>
    <p:extLst>
      <p:ext uri="{BB962C8B-B14F-4D97-AF65-F5344CB8AC3E}">
        <p14:creationId xmlns:p14="http://schemas.microsoft.com/office/powerpoint/2010/main" val="18882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842645" y="2480945"/>
            <a:ext cx="7263765" cy="3524250"/>
          </a:xfrm>
          <a:prstGeom prst="roundRect">
            <a:avLst/>
          </a:prstGeom>
          <a:ln w="38100">
            <a:solidFill>
              <a:srgbClr val="DF6F6F"/>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0" name="矩形: 圆角 9"/>
          <p:cNvSpPr/>
          <p:nvPr/>
        </p:nvSpPr>
        <p:spPr>
          <a:xfrm>
            <a:off x="3900805" y="1957705"/>
            <a:ext cx="3693795" cy="523240"/>
          </a:xfrm>
          <a:prstGeom prst="round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905"/>
            <a:ext cx="499491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二</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生产关系的系统性调试</a:t>
            </a:r>
          </a:p>
        </p:txBody>
      </p:sp>
      <p:sp>
        <p:nvSpPr>
          <p:cNvPr id="9" name="文本框 8"/>
          <p:cNvSpPr txBox="1"/>
          <p:nvPr/>
        </p:nvSpPr>
        <p:spPr>
          <a:xfrm>
            <a:off x="4020185" y="1957705"/>
            <a:ext cx="370078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cs typeface="+mn-cs"/>
                <a:sym typeface="+mn-ea"/>
              </a:rPr>
              <a:t>1.</a:t>
            </a:r>
            <a:r>
              <a:rPr kumimoji="0" lang="zh-CN" altLang="en-US" sz="2800" b="1"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cs typeface="+mn-cs"/>
                <a:sym typeface="+mn-ea"/>
              </a:rPr>
              <a:t>空域管理政策的调整</a:t>
            </a:r>
          </a:p>
        </p:txBody>
      </p:sp>
      <p:sp>
        <p:nvSpPr>
          <p:cNvPr id="11" name="文本框 10"/>
          <p:cNvSpPr txBox="1"/>
          <p:nvPr/>
        </p:nvSpPr>
        <p:spPr>
          <a:xfrm>
            <a:off x="1298723" y="2765829"/>
            <a:ext cx="6540500" cy="280076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低空经济的起飞，首先要求解放其最关键的</a:t>
            </a:r>
            <a:r>
              <a:rPr kumimoji="0" lang="zh-CN" altLang="en-US" sz="2800" b="1" i="0" u="none" strike="noStrike" kern="1200" cap="none" spc="0" normalizeH="0" baseline="0" noProof="0" dirty="0">
                <a:ln>
                  <a:noFill/>
                </a:ln>
                <a:solidFill>
                  <a:prstClr val="black"/>
                </a:solidFill>
                <a:effectLst/>
                <a:uLnTx/>
                <a:uFillTx/>
                <a:latin typeface="等线"/>
                <a:ea typeface="等线"/>
                <a:cs typeface="+mn-lt"/>
              </a:rPr>
              <a:t>生产资料</a:t>
            </a:r>
            <a:r>
              <a:rPr kumimoji="0" lang="en-US" altLang="zh-CN" sz="2800" b="1"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800" b="1" i="0" u="none" strike="noStrike" kern="1200" cap="none" spc="0" normalizeH="0" baseline="0" noProof="0" dirty="0">
                <a:ln>
                  <a:noFill/>
                </a:ln>
                <a:solidFill>
                  <a:prstClr val="black"/>
                </a:solidFill>
                <a:effectLst/>
                <a:uLnTx/>
                <a:uFillTx/>
                <a:latin typeface="等线"/>
                <a:ea typeface="等线"/>
                <a:cs typeface="+mn-lt"/>
              </a:rPr>
              <a:t>空域</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。国家主导的空域管理试点改革，正是对生产资料</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使用权</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关系进行的根本性调整。以四川为例，协同管理空域的扩大，标志着空域资源从传统的</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严格管制</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向</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分类有序开放</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转变。这实质上是社会主义公有制下，为实现新生产力发展而进行的所有制具体实现形式的创新，为新生产力的活动开辟了不可或缺的物理空间。</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a:ea typeface="等线"/>
              <a:cs typeface="+mn-lt"/>
            </a:endParaRPr>
          </a:p>
        </p:txBody>
      </p:sp>
      <p:cxnSp>
        <p:nvCxnSpPr>
          <p:cNvPr id="14" name="直接连接符 13"/>
          <p:cNvCxnSpPr/>
          <p:nvPr/>
        </p:nvCxnSpPr>
        <p:spPr>
          <a:xfrm>
            <a:off x="8455630" y="2242609"/>
            <a:ext cx="0" cy="3363436"/>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pic>
        <p:nvPicPr>
          <p:cNvPr id="6" name="图片 5" descr="/private/var/folders/f6/7nsh5b515ts31ks591qt51480000gn/T/com.kingsoft.wpsoffice.mac/picturecompress_20221217152405/output_41.pngoutput_41"/>
          <p:cNvPicPr>
            <a:picLocks noChangeAspect="1"/>
          </p:cNvPicPr>
          <p:nvPr/>
        </p:nvPicPr>
        <p:blipFill>
          <a:blip r:embed="rId2"/>
          <a:stretch>
            <a:fillRect/>
          </a:stretch>
        </p:blipFill>
        <p:spPr>
          <a:xfrm>
            <a:off x="86069" y="128754"/>
            <a:ext cx="537819" cy="537819"/>
          </a:xfrm>
          <a:prstGeom prst="rect">
            <a:avLst/>
          </a:prstGeom>
        </p:spPr>
      </p:pic>
      <p:pic>
        <p:nvPicPr>
          <p:cNvPr id="7" name="图片 6" descr="/private/var/folders/f6/7nsh5b515ts31ks591qt51480000gn/T/com.kingsoft.wpsoffice.mac/picturecompress_20221217152405/output_42.pngoutput_42"/>
          <p:cNvPicPr>
            <a:picLocks noChangeAspect="1"/>
          </p:cNvPicPr>
          <p:nvPr/>
        </p:nvPicPr>
        <p:blipFill>
          <a:blip r:embed="rId3"/>
          <a:stretch>
            <a:fillRect/>
          </a:stretch>
        </p:blipFill>
        <p:spPr>
          <a:xfrm>
            <a:off x="9813778" y="90592"/>
            <a:ext cx="2135851" cy="627406"/>
          </a:xfrm>
          <a:prstGeom prst="rect">
            <a:avLst/>
          </a:prstGeom>
        </p:spPr>
      </p:pic>
      <p:pic>
        <p:nvPicPr>
          <p:cNvPr id="12" name="图片 11"/>
          <p:cNvPicPr>
            <a:picLocks noChangeAspect="1"/>
          </p:cNvPicPr>
          <p:nvPr/>
        </p:nvPicPr>
        <p:blipFill>
          <a:blip r:embed="rId4"/>
          <a:stretch>
            <a:fillRect/>
          </a:stretch>
        </p:blipFill>
        <p:spPr>
          <a:xfrm>
            <a:off x="8665845" y="2341880"/>
            <a:ext cx="3206750" cy="3470275"/>
          </a:xfrm>
          <a:prstGeom prst="rect">
            <a:avLst/>
          </a:prstGeom>
        </p:spPr>
      </p:pic>
    </p:spTree>
    <p:extLst>
      <p:ext uri="{BB962C8B-B14F-4D97-AF65-F5344CB8AC3E}">
        <p14:creationId xmlns:p14="http://schemas.microsoft.com/office/powerpoint/2010/main" val="4000594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842645" y="2242820"/>
            <a:ext cx="7263765" cy="3999230"/>
          </a:xfrm>
          <a:prstGeom prst="roundRect">
            <a:avLst/>
          </a:prstGeom>
          <a:ln w="38100">
            <a:solidFill>
              <a:srgbClr val="DF6F6F"/>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0" name="矩形: 圆角 9"/>
          <p:cNvSpPr/>
          <p:nvPr/>
        </p:nvSpPr>
        <p:spPr>
          <a:xfrm>
            <a:off x="4315345" y="1957804"/>
            <a:ext cx="3322777" cy="523220"/>
          </a:xfrm>
          <a:prstGeom prst="round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905"/>
            <a:ext cx="499491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二</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生产关系的系统性调试</a:t>
            </a:r>
          </a:p>
        </p:txBody>
      </p:sp>
      <p:sp>
        <p:nvSpPr>
          <p:cNvPr id="9" name="文本框 8"/>
          <p:cNvSpPr txBox="1"/>
          <p:nvPr/>
        </p:nvSpPr>
        <p:spPr>
          <a:xfrm>
            <a:off x="4473575" y="1957705"/>
            <a:ext cx="304609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cs typeface="+mn-cs"/>
                <a:sym typeface="+mn-ea"/>
              </a:rPr>
              <a:t>2.</a:t>
            </a:r>
            <a:r>
              <a:rPr kumimoji="0" lang="zh-CN" altLang="en-US" sz="2800" b="1"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cs typeface="+mn-cs"/>
                <a:sym typeface="+mn-ea"/>
              </a:rPr>
              <a:t>运营方式的重塑</a:t>
            </a:r>
          </a:p>
        </p:txBody>
      </p:sp>
      <p:sp>
        <p:nvSpPr>
          <p:cNvPr id="11" name="文本框 10"/>
          <p:cNvSpPr txBox="1"/>
          <p:nvPr/>
        </p:nvSpPr>
        <p:spPr>
          <a:xfrm>
            <a:off x="1298723" y="2765829"/>
            <a:ext cx="6540500" cy="33239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随着新生产力的涌现，</a:t>
            </a:r>
            <a:r>
              <a:rPr kumimoji="0" lang="zh-CN" altLang="en-US" sz="2400" b="1" i="0" u="none" strike="noStrike" kern="1200" cap="none" spc="0" normalizeH="0" baseline="0" noProof="0" dirty="0">
                <a:ln>
                  <a:noFill/>
                </a:ln>
                <a:solidFill>
                  <a:prstClr val="black"/>
                </a:solidFill>
                <a:effectLst/>
                <a:highlight>
                  <a:srgbClr val="FFFF00"/>
                </a:highlight>
                <a:uLnTx/>
                <a:uFillTx/>
                <a:latin typeface="等线"/>
                <a:ea typeface="等线"/>
                <a:cs typeface="+mn-lt"/>
              </a:rPr>
              <a:t>传统的生产组织与协作关系已不适用</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。共享无人机模式模糊了消费者与生产服务者的界限，中国移动等</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国家队</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资本与地方运营公司的结合，则构建了</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政府引导、市场主导、企业运营</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的新型产业协同网络。这些探索都在深刻重塑生产过程中人们的地位与相互关系，形成了更灵活、更高效、更适应技术网络化特征的</a:t>
            </a:r>
            <a:r>
              <a:rPr kumimoji="0" lang="zh-CN" altLang="en-US" sz="3600" b="0" i="0" u="none" strike="noStrike" kern="1200" cap="none" spc="0" normalizeH="0" baseline="0" noProof="0" dirty="0">
                <a:ln>
                  <a:noFill/>
                </a:ln>
                <a:solidFill>
                  <a:prstClr val="black"/>
                </a:solidFill>
                <a:effectLst/>
                <a:uLnTx/>
                <a:uFillTx/>
                <a:latin typeface="等线"/>
                <a:ea typeface="等线"/>
                <a:cs typeface="+mn-lt"/>
              </a:rPr>
              <a:t>新型生产关系</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，为新质生产力提供了组织载体。</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a:cs typeface="+mn-lt"/>
            </a:endParaRPr>
          </a:p>
        </p:txBody>
      </p:sp>
      <p:cxnSp>
        <p:nvCxnSpPr>
          <p:cNvPr id="14" name="直接连接符 13"/>
          <p:cNvCxnSpPr/>
          <p:nvPr/>
        </p:nvCxnSpPr>
        <p:spPr>
          <a:xfrm>
            <a:off x="8455630" y="2242609"/>
            <a:ext cx="0" cy="3363436"/>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pic>
        <p:nvPicPr>
          <p:cNvPr id="6" name="图片 5" descr="/private/var/folders/f6/7nsh5b515ts31ks591qt51480000gn/T/com.kingsoft.wpsoffice.mac/picturecompress_20221217152405/output_41.pngoutput_41"/>
          <p:cNvPicPr>
            <a:picLocks noChangeAspect="1"/>
          </p:cNvPicPr>
          <p:nvPr/>
        </p:nvPicPr>
        <p:blipFill>
          <a:blip r:embed="rId2"/>
          <a:stretch>
            <a:fillRect/>
          </a:stretch>
        </p:blipFill>
        <p:spPr>
          <a:xfrm>
            <a:off x="86069" y="128754"/>
            <a:ext cx="537819" cy="537819"/>
          </a:xfrm>
          <a:prstGeom prst="rect">
            <a:avLst/>
          </a:prstGeom>
        </p:spPr>
      </p:pic>
      <p:pic>
        <p:nvPicPr>
          <p:cNvPr id="7" name="图片 6" descr="/private/var/folders/f6/7nsh5b515ts31ks591qt51480000gn/T/com.kingsoft.wpsoffice.mac/picturecompress_20221217152405/output_42.pngoutput_42"/>
          <p:cNvPicPr>
            <a:picLocks noChangeAspect="1"/>
          </p:cNvPicPr>
          <p:nvPr/>
        </p:nvPicPr>
        <p:blipFill>
          <a:blip r:embed="rId3"/>
          <a:stretch>
            <a:fillRect/>
          </a:stretch>
        </p:blipFill>
        <p:spPr>
          <a:xfrm>
            <a:off x="9813778" y="90592"/>
            <a:ext cx="2135851" cy="627406"/>
          </a:xfrm>
          <a:prstGeom prst="rect">
            <a:avLst/>
          </a:prstGeom>
        </p:spPr>
      </p:pic>
      <p:pic>
        <p:nvPicPr>
          <p:cNvPr id="8" name="图片 7"/>
          <p:cNvPicPr>
            <a:picLocks noChangeAspect="1"/>
          </p:cNvPicPr>
          <p:nvPr/>
        </p:nvPicPr>
        <p:blipFill>
          <a:blip r:embed="rId4"/>
          <a:stretch>
            <a:fillRect/>
          </a:stretch>
        </p:blipFill>
        <p:spPr>
          <a:xfrm>
            <a:off x="8648700" y="2290445"/>
            <a:ext cx="3250565" cy="3315335"/>
          </a:xfrm>
          <a:prstGeom prst="rect">
            <a:avLst/>
          </a:prstGeom>
        </p:spPr>
      </p:pic>
    </p:spTree>
    <p:extLst>
      <p:ext uri="{BB962C8B-B14F-4D97-AF65-F5344CB8AC3E}">
        <p14:creationId xmlns:p14="http://schemas.microsoft.com/office/powerpoint/2010/main" val="1695666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842645" y="2242820"/>
            <a:ext cx="7263765" cy="3836670"/>
          </a:xfrm>
          <a:prstGeom prst="roundRect">
            <a:avLst/>
          </a:prstGeom>
          <a:ln w="38100">
            <a:solidFill>
              <a:srgbClr val="DF6F6F"/>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0" name="矩形: 圆角 9"/>
          <p:cNvSpPr/>
          <p:nvPr/>
        </p:nvSpPr>
        <p:spPr>
          <a:xfrm>
            <a:off x="4315345" y="1957804"/>
            <a:ext cx="3322777" cy="523220"/>
          </a:xfrm>
          <a:prstGeom prst="round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905"/>
            <a:ext cx="499491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二</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生产关系的系统性调试</a:t>
            </a:r>
          </a:p>
        </p:txBody>
      </p:sp>
      <p:sp>
        <p:nvSpPr>
          <p:cNvPr id="9" name="文本框 8"/>
          <p:cNvSpPr txBox="1"/>
          <p:nvPr/>
        </p:nvSpPr>
        <p:spPr>
          <a:xfrm>
            <a:off x="4568973" y="1957804"/>
            <a:ext cx="270637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cs typeface="+mn-cs"/>
                <a:sym typeface="+mn-ea"/>
              </a:rPr>
              <a:t>3.</a:t>
            </a:r>
            <a:r>
              <a:rPr kumimoji="0" lang="zh-CN" altLang="en-US" sz="2800" b="1"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cs typeface="+mn-cs"/>
                <a:sym typeface="+mn-ea"/>
              </a:rPr>
              <a:t>安全与法规</a:t>
            </a:r>
          </a:p>
        </p:txBody>
      </p:sp>
      <p:sp>
        <p:nvSpPr>
          <p:cNvPr id="11" name="文本框 10"/>
          <p:cNvSpPr txBox="1"/>
          <p:nvPr/>
        </p:nvSpPr>
        <p:spPr>
          <a:xfrm>
            <a:off x="1298575" y="2766060"/>
            <a:ext cx="6540500" cy="3102610"/>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任何生产力的健康发展都离不开稳定的秩序框架。强调</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安全前提</a:t>
            </a:r>
            <a:r>
              <a:rPr kumimoji="0" lang="en-US" altLang="zh-CN" sz="2000" b="0" i="0" u="none" strike="noStrike" kern="1200" cap="none" spc="0" normalizeH="0" baseline="0" noProof="0" dirty="0">
                <a:ln>
                  <a:noFill/>
                </a:ln>
                <a:solidFill>
                  <a:prstClr val="black"/>
                </a:solidFill>
                <a:effectLst/>
                <a:uLnTx/>
                <a:uFillTx/>
                <a:latin typeface="等线"/>
                <a:ea typeface="等线"/>
                <a:cs typeface="+mn-lt"/>
              </a:rPr>
              <a:t>”</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并同步构建法规标准体系，体现了</a:t>
            </a:r>
            <a:r>
              <a:rPr kumimoji="0" lang="zh-CN" altLang="en-US" sz="2000" b="1" i="0" u="none" strike="noStrike" kern="1200" cap="none" spc="0" normalizeH="0" baseline="0" noProof="0" dirty="0">
                <a:ln>
                  <a:noFill/>
                </a:ln>
                <a:solidFill>
                  <a:prstClr val="black"/>
                </a:solidFill>
                <a:effectLst/>
                <a:highlight>
                  <a:srgbClr val="FFFF00"/>
                </a:highlight>
                <a:uLnTx/>
                <a:uFillTx/>
                <a:latin typeface="等线"/>
                <a:ea typeface="等线"/>
                <a:cs typeface="+mn-lt"/>
              </a:rPr>
              <a:t>上层建筑对经济基础的能动的反作用</a:t>
            </a:r>
            <a:r>
              <a:rPr kumimoji="0" lang="zh-CN" altLang="en-US" sz="2000" b="0" i="0" u="none" strike="noStrike" kern="1200" cap="none" spc="0" normalizeH="0" baseline="0" noProof="0" dirty="0">
                <a:ln>
                  <a:noFill/>
                </a:ln>
                <a:solidFill>
                  <a:prstClr val="black"/>
                </a:solidFill>
                <a:effectLst/>
                <a:uLnTx/>
                <a:uFillTx/>
                <a:latin typeface="等线"/>
                <a:ea typeface="等线"/>
                <a:cs typeface="+mn-lt"/>
              </a:rPr>
              <a:t>。这些安全规章与行业标准并非简单的限制，而是为新生的低空经济划定安全跑道、树立行为规范、防范系统性风险，为其长期可持续发展提供制度性保障与方向性引导。</a:t>
            </a:r>
          </a:p>
        </p:txBody>
      </p:sp>
      <p:cxnSp>
        <p:nvCxnSpPr>
          <p:cNvPr id="14" name="直接连接符 13"/>
          <p:cNvCxnSpPr/>
          <p:nvPr/>
        </p:nvCxnSpPr>
        <p:spPr>
          <a:xfrm>
            <a:off x="8455630" y="2242609"/>
            <a:ext cx="0" cy="3363436"/>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pic>
        <p:nvPicPr>
          <p:cNvPr id="6" name="图片 5" descr="/private/var/folders/f6/7nsh5b515ts31ks591qt51480000gn/T/com.kingsoft.wpsoffice.mac/picturecompress_20221217152405/output_41.pngoutput_41"/>
          <p:cNvPicPr>
            <a:picLocks noChangeAspect="1"/>
          </p:cNvPicPr>
          <p:nvPr/>
        </p:nvPicPr>
        <p:blipFill>
          <a:blip r:embed="rId2"/>
          <a:stretch>
            <a:fillRect/>
          </a:stretch>
        </p:blipFill>
        <p:spPr>
          <a:xfrm>
            <a:off x="86069" y="128754"/>
            <a:ext cx="537819" cy="537819"/>
          </a:xfrm>
          <a:prstGeom prst="rect">
            <a:avLst/>
          </a:prstGeom>
        </p:spPr>
      </p:pic>
      <p:pic>
        <p:nvPicPr>
          <p:cNvPr id="7" name="图片 6" descr="/private/var/folders/f6/7nsh5b515ts31ks591qt51480000gn/T/com.kingsoft.wpsoffice.mac/picturecompress_20221217152405/output_42.pngoutput_42"/>
          <p:cNvPicPr>
            <a:picLocks noChangeAspect="1"/>
          </p:cNvPicPr>
          <p:nvPr/>
        </p:nvPicPr>
        <p:blipFill>
          <a:blip r:embed="rId3"/>
          <a:stretch>
            <a:fillRect/>
          </a:stretch>
        </p:blipFill>
        <p:spPr>
          <a:xfrm>
            <a:off x="9813778" y="90592"/>
            <a:ext cx="2135851" cy="627406"/>
          </a:xfrm>
          <a:prstGeom prst="rect">
            <a:avLst/>
          </a:prstGeom>
        </p:spPr>
      </p:pic>
      <p:pic>
        <p:nvPicPr>
          <p:cNvPr id="5" name="图片 4"/>
          <p:cNvPicPr>
            <a:picLocks noChangeAspect="1"/>
          </p:cNvPicPr>
          <p:nvPr/>
        </p:nvPicPr>
        <p:blipFill>
          <a:blip r:embed="rId4"/>
          <a:stretch>
            <a:fillRect/>
          </a:stretch>
        </p:blipFill>
        <p:spPr>
          <a:xfrm>
            <a:off x="8841740" y="1967230"/>
            <a:ext cx="2581910" cy="1714500"/>
          </a:xfrm>
          <a:prstGeom prst="rect">
            <a:avLst/>
          </a:prstGeom>
        </p:spPr>
      </p:pic>
      <p:pic>
        <p:nvPicPr>
          <p:cNvPr id="8" name="图片 7"/>
          <p:cNvPicPr>
            <a:picLocks noChangeAspect="1"/>
          </p:cNvPicPr>
          <p:nvPr/>
        </p:nvPicPr>
        <p:blipFill>
          <a:blip r:embed="rId5"/>
          <a:stretch>
            <a:fillRect/>
          </a:stretch>
        </p:blipFill>
        <p:spPr>
          <a:xfrm>
            <a:off x="8867775" y="3681730"/>
            <a:ext cx="2559050" cy="1924050"/>
          </a:xfrm>
          <a:prstGeom prst="rect">
            <a:avLst/>
          </a:prstGeom>
        </p:spPr>
      </p:pic>
    </p:spTree>
    <p:extLst>
      <p:ext uri="{BB962C8B-B14F-4D97-AF65-F5344CB8AC3E}">
        <p14:creationId xmlns:p14="http://schemas.microsoft.com/office/powerpoint/2010/main" val="2504477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842645" y="2242820"/>
            <a:ext cx="7263765" cy="4123690"/>
          </a:xfrm>
          <a:prstGeom prst="roundRect">
            <a:avLst/>
          </a:prstGeom>
          <a:ln w="38100">
            <a:solidFill>
              <a:srgbClr val="DF6F6F"/>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0" name="矩形: 圆角 9"/>
          <p:cNvSpPr/>
          <p:nvPr/>
        </p:nvSpPr>
        <p:spPr>
          <a:xfrm>
            <a:off x="3744595" y="1957705"/>
            <a:ext cx="3893820" cy="523240"/>
          </a:xfrm>
          <a:prstGeom prst="round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905"/>
            <a:ext cx="390906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三</a:t>
            </a:r>
            <a:r>
              <a:rPr lang="en-US" altLang="zh-CN" sz="2800" b="1" dirty="0">
                <a:solidFill>
                  <a:schemeClr val="bg1"/>
                </a:solidFill>
                <a:latin typeface="华文新魏" panose="02010800040101010101" pitchFamily="2" charset="-122"/>
                <a:ea typeface="华文新魏" panose="02010800040101010101" pitchFamily="2" charset="-122"/>
              </a:rPr>
              <a:t>.</a:t>
            </a:r>
            <a:r>
              <a:rPr lang="zh-CN" altLang="en-US" sz="2800" b="1" dirty="0">
                <a:solidFill>
                  <a:schemeClr val="bg1"/>
                </a:solidFill>
                <a:latin typeface="华文新魏" panose="02010800040101010101" pitchFamily="2" charset="-122"/>
                <a:ea typeface="华文新魏" panose="02010800040101010101" pitchFamily="2" charset="-122"/>
              </a:rPr>
              <a:t>矛盾运动的生动体现</a:t>
            </a:r>
          </a:p>
        </p:txBody>
      </p:sp>
      <p:sp>
        <p:nvSpPr>
          <p:cNvPr id="9" name="文本框 8"/>
          <p:cNvSpPr txBox="1"/>
          <p:nvPr/>
        </p:nvSpPr>
        <p:spPr>
          <a:xfrm>
            <a:off x="3640455" y="1957705"/>
            <a:ext cx="411670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cs typeface="+mn-cs"/>
                <a:sym typeface="+mn-ea"/>
              </a:rPr>
              <a:t>低空经济腾飞的根本引擎</a:t>
            </a:r>
          </a:p>
        </p:txBody>
      </p:sp>
      <p:sp>
        <p:nvSpPr>
          <p:cNvPr id="11" name="文本框 10"/>
          <p:cNvSpPr txBox="1"/>
          <p:nvPr/>
        </p:nvSpPr>
        <p:spPr>
          <a:xfrm>
            <a:off x="1298723" y="2765829"/>
            <a:ext cx="6540500" cy="25545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低空经济的勃兴，是</a:t>
            </a:r>
            <a:r>
              <a:rPr kumimoji="0" lang="zh-CN" altLang="en-US" sz="2000" b="1" i="0" u="none" strike="noStrike" kern="1200" cap="none" spc="0" normalizeH="0" baseline="0" noProof="0" dirty="0">
                <a:ln>
                  <a:noFill/>
                </a:ln>
                <a:solidFill>
                  <a:prstClr val="black"/>
                </a:solidFill>
                <a:effectLst/>
                <a:highlight>
                  <a:srgbClr val="FFFF00"/>
                </a:highlight>
                <a:uLnTx/>
                <a:uFillTx/>
                <a:latin typeface="等线"/>
                <a:ea typeface="等线" panose="02010600030101010101" pitchFamily="2" charset="-122"/>
                <a:cs typeface="+mn-cs"/>
              </a:rPr>
              <a:t>生产力与生产关系矛盾运动</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的鲜活例证。起初，无人机新技术与封闭空域管理的旧制度尖锐对立。正是这一矛盾，驱动了生产关系的主动调适</a:t>
            </a: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政府改革空域管理，企业开拓应用场景。然而，发展永无止境。技术的持续进步必将再次挑战现有的管理效率和商业模式，催生新的矛盾，进而推动生产关系进入更高层次的调适循环。这一</a:t>
            </a: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矛盾</a:t>
            </a: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调适</a:t>
            </a: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再矛盾</a:t>
            </a: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的螺旋，</a:t>
            </a:r>
            <a:r>
              <a:rPr kumimoji="0" lang="zh-CN" altLang="en-US" sz="2000" b="0" i="0" u="none" strike="noStrike" kern="1200" cap="none" spc="0" normalizeH="0" baseline="0" noProof="0" dirty="0">
                <a:ln>
                  <a:noFill/>
                </a:ln>
                <a:solidFill>
                  <a:prstClr val="black"/>
                </a:solidFill>
                <a:effectLst/>
                <a:highlight>
                  <a:srgbClr val="FFFF00"/>
                </a:highlight>
                <a:uLnTx/>
                <a:uFillTx/>
                <a:latin typeface="等线"/>
                <a:ea typeface="等线" panose="02010600030101010101" pitchFamily="2" charset="-122"/>
                <a:cs typeface="+mn-cs"/>
              </a:rPr>
              <a:t>正是马克思主义所揭示的社会发展根本动力的生动实践。</a:t>
            </a:r>
            <a:endParaRPr kumimoji="0" lang="zh-CN" altLang="en-US" sz="3200" b="0" i="0" u="none" strike="noStrike" kern="1200" cap="none" spc="0" normalizeH="0" baseline="0" noProof="0" dirty="0">
              <a:ln>
                <a:noFill/>
              </a:ln>
              <a:solidFill>
                <a:prstClr val="black"/>
              </a:solidFill>
              <a:effectLst/>
              <a:highlight>
                <a:srgbClr val="FFFF00"/>
              </a:highlight>
              <a:uLnTx/>
              <a:uFillTx/>
              <a:latin typeface="等线"/>
              <a:ea typeface="等线" panose="02010600030101010101" pitchFamily="2" charset="-122"/>
              <a:cs typeface="+mn-cs"/>
            </a:endParaRPr>
          </a:p>
        </p:txBody>
      </p:sp>
      <p:cxnSp>
        <p:nvCxnSpPr>
          <p:cNvPr id="14" name="直接连接符 13"/>
          <p:cNvCxnSpPr/>
          <p:nvPr/>
        </p:nvCxnSpPr>
        <p:spPr>
          <a:xfrm>
            <a:off x="8455630" y="2242609"/>
            <a:ext cx="0" cy="3363436"/>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pic>
        <p:nvPicPr>
          <p:cNvPr id="6" name="图片 5" descr="/private/var/folders/f6/7nsh5b515ts31ks591qt51480000gn/T/com.kingsoft.wpsoffice.mac/picturecompress_20221217152405/output_41.pngoutput_41"/>
          <p:cNvPicPr>
            <a:picLocks noChangeAspect="1"/>
          </p:cNvPicPr>
          <p:nvPr/>
        </p:nvPicPr>
        <p:blipFill>
          <a:blip r:embed="rId2"/>
          <a:stretch>
            <a:fillRect/>
          </a:stretch>
        </p:blipFill>
        <p:spPr>
          <a:xfrm>
            <a:off x="86069" y="128754"/>
            <a:ext cx="537819" cy="537819"/>
          </a:xfrm>
          <a:prstGeom prst="rect">
            <a:avLst/>
          </a:prstGeom>
        </p:spPr>
      </p:pic>
      <p:pic>
        <p:nvPicPr>
          <p:cNvPr id="7" name="图片 6" descr="/private/var/folders/f6/7nsh5b515ts31ks591qt51480000gn/T/com.kingsoft.wpsoffice.mac/picturecompress_20221217152405/output_42.pngoutput_42"/>
          <p:cNvPicPr>
            <a:picLocks noChangeAspect="1"/>
          </p:cNvPicPr>
          <p:nvPr/>
        </p:nvPicPr>
        <p:blipFill>
          <a:blip r:embed="rId3"/>
          <a:stretch>
            <a:fillRect/>
          </a:stretch>
        </p:blipFill>
        <p:spPr>
          <a:xfrm>
            <a:off x="9813778" y="90592"/>
            <a:ext cx="2135851" cy="627406"/>
          </a:xfrm>
          <a:prstGeom prst="rect">
            <a:avLst/>
          </a:prstGeom>
        </p:spPr>
      </p:pic>
      <p:pic>
        <p:nvPicPr>
          <p:cNvPr id="5" name="图片 4"/>
          <p:cNvPicPr>
            <a:picLocks noChangeAspect="1"/>
          </p:cNvPicPr>
          <p:nvPr/>
        </p:nvPicPr>
        <p:blipFill>
          <a:blip r:embed="rId4"/>
          <a:stretch>
            <a:fillRect/>
          </a:stretch>
        </p:blipFill>
        <p:spPr>
          <a:xfrm>
            <a:off x="8662670" y="2480945"/>
            <a:ext cx="3103880" cy="3011805"/>
          </a:xfrm>
          <a:prstGeom prst="rect">
            <a:avLst/>
          </a:prstGeom>
        </p:spPr>
      </p:pic>
    </p:spTree>
    <p:extLst>
      <p:ext uri="{BB962C8B-B14F-4D97-AF65-F5344CB8AC3E}">
        <p14:creationId xmlns:p14="http://schemas.microsoft.com/office/powerpoint/2010/main" val="2498263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private/var/folders/f6/7nsh5b515ts31ks591qt51480000gn/T/com.kingsoft.wpsoffice.mac/picturecompress_20221217152405/output_26.jpgoutput_26"/>
          <p:cNvPicPr>
            <a:picLocks noChangeAspect="1"/>
          </p:cNvPicPr>
          <p:nvPr/>
        </p:nvPicPr>
        <p:blipFill rotWithShape="1">
          <a:blip r:embed="rId3"/>
          <a:srcRect/>
          <a:stretch>
            <a:fillRect/>
          </a:stretch>
        </p:blipFill>
        <p:spPr>
          <a:xfrm>
            <a:off x="0" y="-148590"/>
            <a:ext cx="12192000" cy="7006590"/>
          </a:xfrm>
          <a:prstGeom prst="rect">
            <a:avLst/>
          </a:prstGeom>
        </p:spPr>
      </p:pic>
      <p:sp>
        <p:nvSpPr>
          <p:cNvPr id="4" name="PA-矩形 5"/>
          <p:cNvSpPr/>
          <p:nvPr>
            <p:custDataLst>
              <p:tags r:id="rId1"/>
            </p:custDataLst>
          </p:nvPr>
        </p:nvSpPr>
        <p:spPr>
          <a:xfrm>
            <a:off x="0" y="-212652"/>
            <a:ext cx="12192000" cy="7070652"/>
          </a:xfrm>
          <a:prstGeom prst="rect">
            <a:avLst/>
          </a:prstGeom>
          <a:solidFill>
            <a:srgbClr val="7A0000">
              <a:alpha val="84706"/>
            </a:srgbClr>
          </a:solidFill>
          <a:ln>
            <a:solidFill>
              <a:srgbClr val="9C0000"/>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096000" y="1038225"/>
            <a:ext cx="4795463" cy="5755713"/>
          </a:xfrm>
        </p:spPr>
        <p:txBody>
          <a:bodyPr>
            <a:noAutofit/>
          </a:bodyPr>
          <a:lstStyle/>
          <a:p>
            <a:pPr algn="ctr"/>
            <a:r>
              <a:rPr lang="en-US" altLang="zh-CN" sz="480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38100" dist="38100" dir="2700000" algn="tl">
                    <a:srgbClr val="000000">
                      <a:alpha val="43137"/>
                    </a:srgbClr>
                  </a:outerShdw>
                </a:effectLst>
                <a:latin typeface="Imprint MT Shadow" panose="04020605060303030202" pitchFamily="82" charset="0"/>
              </a:rPr>
              <a:t>4</a:t>
            </a:r>
            <a:endParaRPr lang="zh-CN" altLang="en-US" sz="48000" b="1" dirty="0">
              <a:gradFill>
                <a:gsLst>
                  <a:gs pos="31000">
                    <a:schemeClr val="accent3">
                      <a:lumMod val="0"/>
                      <a:lumOff val="100000"/>
                    </a:schemeClr>
                  </a:gs>
                  <a:gs pos="51000">
                    <a:schemeClr val="accent3">
                      <a:lumMod val="0"/>
                      <a:lumOff val="100000"/>
                    </a:schemeClr>
                  </a:gs>
                  <a:gs pos="100000">
                    <a:schemeClr val="accent3">
                      <a:lumMod val="100000"/>
                    </a:schemeClr>
                  </a:gs>
                </a:gsLst>
                <a:path path="circle">
                  <a:fillToRect l="50000" t="-80000" r="50000" b="180000"/>
                </a:path>
              </a:gradFill>
              <a:effectLst>
                <a:outerShdw blurRad="38100" dist="38100" dir="2700000" algn="tl">
                  <a:srgbClr val="000000">
                    <a:alpha val="43137"/>
                  </a:srgbClr>
                </a:outerShdw>
              </a:effectLst>
              <a:latin typeface="Imprint MT Shadow" panose="04020605060303030202" pitchFamily="82" charset="0"/>
            </a:endParaRPr>
          </a:p>
        </p:txBody>
      </p:sp>
      <p:sp>
        <p:nvSpPr>
          <p:cNvPr id="9" name="文本框 8"/>
          <p:cNvSpPr txBox="1"/>
          <p:nvPr/>
        </p:nvSpPr>
        <p:spPr>
          <a:xfrm>
            <a:off x="1406014" y="2281084"/>
            <a:ext cx="597947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0" normalizeH="0" baseline="0" noProof="0" dirty="0">
                <a:ln>
                  <a:noFill/>
                </a:ln>
                <a:gradFill>
                  <a:gsLst>
                    <a:gs pos="31000">
                      <a:srgbClr val="A5A5A5">
                        <a:lumMod val="0"/>
                        <a:lumOff val="100000"/>
                      </a:srgbClr>
                    </a:gs>
                    <a:gs pos="51000">
                      <a:srgbClr val="A5A5A5">
                        <a:lumMod val="0"/>
                        <a:lumOff val="100000"/>
                      </a:srgbClr>
                    </a:gs>
                    <a:gs pos="100000">
                      <a:srgbClr val="A5A5A5">
                        <a:lumMod val="100000"/>
                      </a:srgbClr>
                    </a:gs>
                  </a:gsLst>
                  <a:path path="circle">
                    <a:fillToRect l="50000" t="-80000" r="50000" b="180000"/>
                  </a:path>
                </a:gradFill>
                <a:effectLst>
                  <a:outerShdw blurRad="50800" dist="38100" dir="2700000" algn="tl" rotWithShape="0">
                    <a:prstClr val="black">
                      <a:alpha val="40000"/>
                    </a:prstClr>
                  </a:outerShdw>
                </a:effectLst>
                <a:uLnTx/>
                <a:uFillTx/>
                <a:latin typeface="华文宋体" panose="02010600040101010101" pitchFamily="2" charset="-122"/>
                <a:ea typeface="华文宋体" panose="02010600040101010101" pitchFamily="2" charset="-122"/>
                <a:cs typeface="+mn-cs"/>
              </a:rPr>
              <a:t>总结与展望</a:t>
            </a:r>
          </a:p>
        </p:txBody>
      </p:sp>
    </p:spTree>
    <p:extLst>
      <p:ext uri="{BB962C8B-B14F-4D97-AF65-F5344CB8AC3E}">
        <p14:creationId xmlns:p14="http://schemas.microsoft.com/office/powerpoint/2010/main" val="2897208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3279866"/>
            <a:ext cx="12192000" cy="800100"/>
          </a:xfrm>
          <a:prstGeom prst="rect">
            <a:avLst/>
          </a:prstGeom>
          <a:solidFill>
            <a:srgbClr val="912727"/>
          </a:solidFill>
          <a:ln>
            <a:solidFill>
              <a:srgbClr val="912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p:cNvSpPr/>
          <p:nvPr/>
        </p:nvSpPr>
        <p:spPr>
          <a:xfrm>
            <a:off x="404156" y="928854"/>
            <a:ext cx="3870664" cy="5630878"/>
          </a:xfrm>
          <a:prstGeom prst="rect">
            <a:avLst/>
          </a:prstGeom>
          <a:solidFill>
            <a:srgbClr val="D35B5B"/>
          </a:solidFill>
          <a:ln>
            <a:solidFill>
              <a:srgbClr val="D35B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42371" y="-28392"/>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 name="标题 1"/>
          <p:cNvSpPr>
            <a:spLocks noGrp="1"/>
          </p:cNvSpPr>
          <p:nvPr>
            <p:ph type="title"/>
          </p:nvPr>
        </p:nvSpPr>
        <p:spPr>
          <a:xfrm>
            <a:off x="660400" y="128754"/>
            <a:ext cx="235077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总结与展望</a:t>
            </a: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155" y="921083"/>
            <a:ext cx="3677969" cy="5517666"/>
          </a:xfrm>
          <a:prstGeom prst="rect">
            <a:avLst/>
          </a:prstGeom>
        </p:spPr>
      </p:pic>
      <p:cxnSp>
        <p:nvCxnSpPr>
          <p:cNvPr id="8" name="直接连接符 7"/>
          <p:cNvCxnSpPr/>
          <p:nvPr/>
        </p:nvCxnSpPr>
        <p:spPr>
          <a:xfrm>
            <a:off x="4740880" y="1271059"/>
            <a:ext cx="0" cy="1746461"/>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cxnSp>
        <p:nvCxnSpPr>
          <p:cNvPr id="10" name="直接连接符 9"/>
          <p:cNvCxnSpPr/>
          <p:nvPr/>
        </p:nvCxnSpPr>
        <p:spPr>
          <a:xfrm>
            <a:off x="4740880" y="4387639"/>
            <a:ext cx="0" cy="1746461"/>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sp>
        <p:nvSpPr>
          <p:cNvPr id="14" name="文本框 13"/>
          <p:cNvSpPr txBox="1"/>
          <p:nvPr/>
        </p:nvSpPr>
        <p:spPr>
          <a:xfrm>
            <a:off x="4910744" y="1361811"/>
            <a:ext cx="7038885" cy="1477328"/>
          </a:xfrm>
          <a:prstGeom prst="rect">
            <a:avLst/>
          </a:prstGeom>
          <a:noFill/>
        </p:spPr>
        <p:txBody>
          <a:bodyPr wrap="square">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低空经济作为以低空空域为新型资源进行系统性开发的综合性经济形态，正在成为推动经济高质量发展的重要引擎。以无人机为代表的航空器，不仅</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拓展了劳动对象的空间范围</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，更通过技术赋能推动了</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生产力的显著跃升</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buNone/>
            </a:pPr>
            <a:endParaRPr lang="zh-CN" altLang="en-US" dirty="0"/>
          </a:p>
        </p:txBody>
      </p:sp>
      <p:sp>
        <p:nvSpPr>
          <p:cNvPr id="15" name="文本框 14"/>
          <p:cNvSpPr txBox="1"/>
          <p:nvPr/>
        </p:nvSpPr>
        <p:spPr>
          <a:xfrm>
            <a:off x="4910744" y="4517052"/>
            <a:ext cx="6609117" cy="2031325"/>
          </a:xfrm>
          <a:prstGeom prst="rect">
            <a:avLst/>
          </a:prstGeom>
          <a:noFill/>
        </p:spPr>
        <p:txBody>
          <a:bodyPr wrap="square">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从马克思主义原理的视角来看，低空经济的发展生动诠释了</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生产力与生产关系的矛盾运动</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。劳动资料的智能化、劳动对象的空间拓展、劳动者技能的提升，共同构成了生产力层面的深刻变革。与此同时，空域管理政策的优化、运营模式的重构、安全法规体系的完善，则体现了</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生产关系为适应新生产力</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而进行的系统性调试。</a:t>
            </a:r>
          </a:p>
          <a:p>
            <a:pPr marL="0" indent="0">
              <a:buNone/>
            </a:pPr>
            <a:r>
              <a:rPr lang="zh-CN" altLang="en-US" dirty="0">
                <a:latin typeface="华文宋体" panose="02010600040101010101" pitchFamily="2" charset="-122"/>
                <a:ea typeface="华文宋体" panose="02010600040101010101" pitchFamily="2" charset="-122"/>
                <a:sym typeface="+mn-ea"/>
              </a:rPr>
              <a:t>。</a:t>
            </a:r>
            <a:endParaRPr lang="zh-CN" altLang="en-US" dirty="0"/>
          </a:p>
        </p:txBody>
      </p:sp>
      <p:pic>
        <p:nvPicPr>
          <p:cNvPr id="3" name="图片 2" descr="/private/var/folders/f6/7nsh5b515ts31ks591qt51480000gn/T/com.kingsoft.wpsoffice.mac/picturecompress_20221217152405/output_39.pngoutput_39"/>
          <p:cNvPicPr>
            <a:picLocks noChangeAspect="1"/>
          </p:cNvPicPr>
          <p:nvPr/>
        </p:nvPicPr>
        <p:blipFill>
          <a:blip r:embed="rId4"/>
          <a:stretch>
            <a:fillRect/>
          </a:stretch>
        </p:blipFill>
        <p:spPr>
          <a:xfrm>
            <a:off x="86069" y="128754"/>
            <a:ext cx="537819" cy="537819"/>
          </a:xfrm>
          <a:prstGeom prst="rect">
            <a:avLst/>
          </a:prstGeom>
        </p:spPr>
      </p:pic>
      <p:pic>
        <p:nvPicPr>
          <p:cNvPr id="9" name="图片 8" descr="/private/var/folders/f6/7nsh5b515ts31ks591qt51480000gn/T/com.kingsoft.wpsoffice.mac/picturecompress_20221217152405/output_40.pngoutput_40"/>
          <p:cNvPicPr>
            <a:picLocks noChangeAspect="1"/>
          </p:cNvPicPr>
          <p:nvPr/>
        </p:nvPicPr>
        <p:blipFill>
          <a:blip r:embed="rId5"/>
          <a:stretch>
            <a:fillRect/>
          </a:stretch>
        </p:blipFill>
        <p:spPr>
          <a:xfrm>
            <a:off x="9813778" y="90592"/>
            <a:ext cx="2135851" cy="627406"/>
          </a:xfrm>
          <a:prstGeom prst="rect">
            <a:avLst/>
          </a:prstGeom>
        </p:spPr>
      </p:pic>
    </p:spTree>
    <p:custDataLst>
      <p:tags r:id="rId1"/>
    </p:custDataLst>
    <p:extLst>
      <p:ext uri="{BB962C8B-B14F-4D97-AF65-F5344CB8AC3E}">
        <p14:creationId xmlns:p14="http://schemas.microsoft.com/office/powerpoint/2010/main" val="746784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842481" y="2242609"/>
            <a:ext cx="7263830" cy="3473470"/>
          </a:xfrm>
          <a:prstGeom prst="roundRect">
            <a:avLst/>
          </a:prstGeom>
          <a:ln w="38100">
            <a:solidFill>
              <a:srgbClr val="DF6F6F"/>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矩形: 圆角 9"/>
          <p:cNvSpPr/>
          <p:nvPr/>
        </p:nvSpPr>
        <p:spPr>
          <a:xfrm>
            <a:off x="4315345" y="1957804"/>
            <a:ext cx="3322777" cy="523220"/>
          </a:xfrm>
          <a:prstGeom prst="round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12192000" cy="800100"/>
          </a:xfrm>
          <a:prstGeom prst="rect">
            <a:avLst/>
          </a:prstGeom>
          <a:solidFill>
            <a:srgbClr val="9A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charset="-122"/>
              <a:cs typeface="+mn-cs"/>
            </a:endParaRPr>
          </a:p>
        </p:txBody>
      </p:sp>
      <p:sp>
        <p:nvSpPr>
          <p:cNvPr id="2" name="标题 1"/>
          <p:cNvSpPr>
            <a:spLocks noGrp="1"/>
          </p:cNvSpPr>
          <p:nvPr>
            <p:ph type="title"/>
          </p:nvPr>
        </p:nvSpPr>
        <p:spPr>
          <a:xfrm>
            <a:off x="660400" y="128754"/>
            <a:ext cx="2350770" cy="663575"/>
          </a:xfrm>
        </p:spPr>
        <p:txBody>
          <a:bodyPr>
            <a:normAutofit/>
          </a:bodyPr>
          <a:lstStyle/>
          <a:p>
            <a:r>
              <a:rPr lang="zh-CN" altLang="en-US" sz="2800" b="1" dirty="0">
                <a:solidFill>
                  <a:schemeClr val="bg1"/>
                </a:solidFill>
                <a:latin typeface="华文新魏" panose="02010800040101010101" pitchFamily="2" charset="-122"/>
                <a:ea typeface="华文新魏" panose="02010800040101010101" pitchFamily="2" charset="-122"/>
              </a:rPr>
              <a:t>总结与展望</a:t>
            </a:r>
          </a:p>
        </p:txBody>
      </p:sp>
      <p:sp>
        <p:nvSpPr>
          <p:cNvPr id="9" name="文本框 8"/>
          <p:cNvSpPr txBox="1"/>
          <p:nvPr/>
        </p:nvSpPr>
        <p:spPr>
          <a:xfrm>
            <a:off x="4568973" y="1957804"/>
            <a:ext cx="2706370" cy="523220"/>
          </a:xfrm>
          <a:prstGeom prst="rect">
            <a:avLst/>
          </a:prstGeom>
          <a:noFill/>
        </p:spPr>
        <p:txBody>
          <a:bodyPr wrap="square">
            <a:spAutoFit/>
          </a:bodyPr>
          <a:lstStyle/>
          <a:p>
            <a:pPr algn="ctr"/>
            <a:r>
              <a:rPr lang="zh-CN" altLang="en-US" sz="2800" b="1" dirty="0">
                <a:solidFill>
                  <a:schemeClr val="bg1"/>
                </a:solidFill>
                <a:latin typeface="华文新魏" panose="02010800040101010101" pitchFamily="2" charset="-122"/>
                <a:ea typeface="华文新魏" panose="02010800040101010101" pitchFamily="2" charset="-122"/>
                <a:sym typeface="+mn-ea"/>
              </a:rPr>
              <a:t>展望</a:t>
            </a:r>
          </a:p>
        </p:txBody>
      </p:sp>
      <p:sp>
        <p:nvSpPr>
          <p:cNvPr id="11" name="文本框 10"/>
          <p:cNvSpPr txBox="1"/>
          <p:nvPr/>
        </p:nvSpPr>
        <p:spPr>
          <a:xfrm>
            <a:off x="1298723" y="2765829"/>
            <a:ext cx="5833597" cy="1785104"/>
          </a:xfrm>
          <a:prstGeom prst="rect">
            <a:avLst/>
          </a:prstGeom>
          <a:noFill/>
        </p:spPr>
        <p:txBody>
          <a:bodyPr wrap="square">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未来，随着技术持续突破与基础设施不断完善，低空经济将在更广领域、更深层次推动产业升级与社会进步，真正实现从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无人机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新天地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的跨越，为构建现代化经济体系注入持续动能。</a:t>
            </a:r>
          </a:p>
          <a:p>
            <a:endParaRPr lang="zh-CN" altLang="en-US" sz="2000" dirty="0"/>
          </a:p>
          <a:p>
            <a:endParaRPr lang="zh-CN" altLang="en-US" dirty="0"/>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28564" y="2242609"/>
            <a:ext cx="3363436" cy="3363436"/>
          </a:xfrm>
          <a:prstGeom prst="rect">
            <a:avLst/>
          </a:prstGeom>
        </p:spPr>
      </p:pic>
      <p:cxnSp>
        <p:nvCxnSpPr>
          <p:cNvPr id="14" name="直接连接符 13"/>
          <p:cNvCxnSpPr/>
          <p:nvPr/>
        </p:nvCxnSpPr>
        <p:spPr>
          <a:xfrm>
            <a:off x="8455630" y="2242609"/>
            <a:ext cx="0" cy="3363436"/>
          </a:xfrm>
          <a:prstGeom prst="line">
            <a:avLst/>
          </a:prstGeom>
          <a:ln w="76200">
            <a:solidFill>
              <a:srgbClr val="A80000"/>
            </a:solidFill>
          </a:ln>
        </p:spPr>
        <p:style>
          <a:lnRef idx="3">
            <a:schemeClr val="dk1"/>
          </a:lnRef>
          <a:fillRef idx="0">
            <a:schemeClr val="dk1"/>
          </a:fillRef>
          <a:effectRef idx="2">
            <a:schemeClr val="dk1"/>
          </a:effectRef>
          <a:fontRef idx="minor">
            <a:schemeClr val="tx1"/>
          </a:fontRef>
        </p:style>
      </p:cxnSp>
      <p:pic>
        <p:nvPicPr>
          <p:cNvPr id="6" name="图片 5" descr="/private/var/folders/f6/7nsh5b515ts31ks591qt51480000gn/T/com.kingsoft.wpsoffice.mac/picturecompress_20221217152405/output_41.pngoutput_41"/>
          <p:cNvPicPr>
            <a:picLocks noChangeAspect="1"/>
          </p:cNvPicPr>
          <p:nvPr/>
        </p:nvPicPr>
        <p:blipFill>
          <a:blip r:embed="rId3"/>
          <a:stretch>
            <a:fillRect/>
          </a:stretch>
        </p:blipFill>
        <p:spPr>
          <a:xfrm>
            <a:off x="86069" y="128754"/>
            <a:ext cx="537819" cy="537819"/>
          </a:xfrm>
          <a:prstGeom prst="rect">
            <a:avLst/>
          </a:prstGeom>
        </p:spPr>
      </p:pic>
      <p:pic>
        <p:nvPicPr>
          <p:cNvPr id="7" name="图片 6" descr="/private/var/folders/f6/7nsh5b515ts31ks591qt51480000gn/T/com.kingsoft.wpsoffice.mac/picturecompress_20221217152405/output_42.pngoutput_42"/>
          <p:cNvPicPr>
            <a:picLocks noChangeAspect="1"/>
          </p:cNvPicPr>
          <p:nvPr/>
        </p:nvPicPr>
        <p:blipFill>
          <a:blip r:embed="rId4"/>
          <a:stretch>
            <a:fillRect/>
          </a:stretch>
        </p:blipFill>
        <p:spPr>
          <a:xfrm>
            <a:off x="9813778" y="90592"/>
            <a:ext cx="2135851" cy="627406"/>
          </a:xfrm>
          <a:prstGeom prst="rect">
            <a:avLst/>
          </a:prstGeom>
        </p:spPr>
      </p:pic>
    </p:spTree>
    <p:extLst>
      <p:ext uri="{BB962C8B-B14F-4D97-AF65-F5344CB8AC3E}">
        <p14:creationId xmlns:p14="http://schemas.microsoft.com/office/powerpoint/2010/main" val="2710908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t="2014" b="13611"/>
          <a:stretch>
            <a:fillRect/>
          </a:stretch>
        </p:blipFill>
        <p:spPr>
          <a:xfrm>
            <a:off x="0" y="0"/>
            <a:ext cx="12192000" cy="6858000"/>
          </a:xfrm>
          <a:prstGeom prst="rect">
            <a:avLst/>
          </a:prstGeom>
        </p:spPr>
      </p:pic>
      <p:sp>
        <p:nvSpPr>
          <p:cNvPr id="2" name="PA-矩形 5"/>
          <p:cNvSpPr/>
          <p:nvPr>
            <p:custDataLst>
              <p:tags r:id="rId1"/>
            </p:custDataLst>
          </p:nvPr>
        </p:nvSpPr>
        <p:spPr>
          <a:xfrm>
            <a:off x="609600" y="419100"/>
            <a:ext cx="10972800" cy="6019800"/>
          </a:xfrm>
          <a:prstGeom prst="rect">
            <a:avLst/>
          </a:prstGeom>
          <a:solidFill>
            <a:srgbClr val="7A0000">
              <a:alpha val="84706"/>
            </a:srgbClr>
          </a:solidFill>
          <a:ln>
            <a:solidFill>
              <a:srgbClr val="7A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12" name="文本框 11"/>
          <p:cNvSpPr txBox="1"/>
          <p:nvPr/>
        </p:nvSpPr>
        <p:spPr>
          <a:xfrm>
            <a:off x="4348409" y="2717046"/>
            <a:ext cx="3559628" cy="1107996"/>
          </a:xfrm>
          <a:prstGeom prst="rect">
            <a:avLst/>
          </a:prstGeom>
          <a:noFill/>
        </p:spPr>
        <p:txBody>
          <a:bodyPr wrap="square" rtlCol="0">
            <a:spAutoFit/>
          </a:bodyPr>
          <a:lstStyle/>
          <a:p>
            <a:r>
              <a:rPr lang="zh-CN" altLang="en-US" sz="6600" b="1" dirty="0">
                <a:solidFill>
                  <a:schemeClr val="bg1"/>
                </a:solidFill>
                <a:latin typeface="华文宋体" panose="02010600040101010101" pitchFamily="2" charset="-122"/>
                <a:ea typeface="华文宋体" panose="02010600040101010101" pitchFamily="2" charset="-122"/>
              </a:rPr>
              <a:t>感谢观看</a:t>
            </a:r>
          </a:p>
        </p:txBody>
      </p:sp>
      <p:cxnSp>
        <p:nvCxnSpPr>
          <p:cNvPr id="14" name="直接连接符 13"/>
          <p:cNvCxnSpPr/>
          <p:nvPr/>
        </p:nvCxnSpPr>
        <p:spPr>
          <a:xfrm>
            <a:off x="3966210" y="2606040"/>
            <a:ext cx="0" cy="197739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17" name="直接连接符 16"/>
          <p:cNvCxnSpPr/>
          <p:nvPr/>
        </p:nvCxnSpPr>
        <p:spPr>
          <a:xfrm>
            <a:off x="8279130" y="2004060"/>
            <a:ext cx="0" cy="197739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1" name="直接连接符 20"/>
          <p:cNvCxnSpPr/>
          <p:nvPr/>
        </p:nvCxnSpPr>
        <p:spPr>
          <a:xfrm>
            <a:off x="3798570" y="4377690"/>
            <a:ext cx="2434590"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2" name="直接连接符 21"/>
          <p:cNvCxnSpPr/>
          <p:nvPr/>
        </p:nvCxnSpPr>
        <p:spPr>
          <a:xfrm>
            <a:off x="6096000" y="2209800"/>
            <a:ext cx="2434590"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1117616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62b74695-78c4-41fb-ac68-9b4d8e090d6d"/>
  <p:tag name="COMMONDATA" val="eyJoZGlkIjoiMTc2ZjM2YTc0NmIzZjk4MDE5YmNkYjg0MTZmZDllM2MifQ=="/>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ISLIDE.ICON" val="#100231;#100875;"/>
</p:tagLst>
</file>

<file path=ppt/tags/tag6.xml><?xml version="1.0" encoding="utf-8"?>
<p:tagLst xmlns:a="http://schemas.openxmlformats.org/drawingml/2006/main" xmlns:r="http://schemas.openxmlformats.org/officeDocument/2006/relationships" xmlns:p="http://schemas.openxmlformats.org/presentationml/2006/main">
  <p:tag name="ISLIDE.ICON" val="#100231;#100875;"/>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ISLIDE.ICON" val="#100231;#100875;"/>
</p:tagLst>
</file>

<file path=ppt/tags/tag9.xml><?xml version="1.0" encoding="utf-8"?>
<p:tagLst xmlns:a="http://schemas.openxmlformats.org/drawingml/2006/main" xmlns:r="http://schemas.openxmlformats.org/officeDocument/2006/relationships" xmlns:p="http://schemas.openxmlformats.org/presentationml/2006/main">
  <p:tag name="ISLIDE.ICON" val="#100231;#100875;"/>
</p:tagLst>
</file>

<file path=ppt/tags/tag10.xml><?xml version="1.0" encoding="utf-8"?>
<p:tagLst xmlns:a="http://schemas.openxmlformats.org/drawingml/2006/main" xmlns:r="http://schemas.openxmlformats.org/officeDocument/2006/relationships" xmlns:p="http://schemas.openxmlformats.org/presentationml/2006/main">
  <p:tag name="ISLIDE.ICON" val="#100231;#100875;"/>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ISLIDE.ICON" val="#100231;#1008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17.36866141732284,&quot;left&quot;:108.84787401574803,&quot;top&quot;:331.48582677165354,&quot;width&quot;:800.302125984251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17.36866141732284,&quot;left&quot;:108.84787401574803,&quot;top&quot;:331.48582677165354,&quot;width&quot;:800.302125984251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17.36866141732284,&quot;left&quot;:108.84787401574803,&quot;top&quot;:331.48582677165354,&quot;width&quot;:800.302125984251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17.36866141732284,&quot;left&quot;:108.84787401574803,&quot;top&quot;:331.48582677165354,&quot;width&quot;:800.302125984251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17.36866141732284,&quot;left&quot;:108.84787401574803,&quot;top&quot;:331.48582677165354,&quot;width&quot;:800.302125984251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17.36866141732284,&quot;left&quot;:108.84787401574803,&quot;top&quot;:331.48582677165354,&quot;width&quot;:800.302125984251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17.36866141732284,&quot;left&quot;:108.84787401574803,&quot;top&quot;:331.48582677165354,&quot;width&quot;:800.302125984251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17.36866141732284,&quot;left&quot;:108.84787401574803,&quot;top&quot;:331.48582677165354,&quot;width&quot;:800.3021259842519}"/>
</p:tagLst>
</file>

<file path=ppt/tags/tag21.xml><?xml version="1.0" encoding="utf-8"?>
<p:tagLst xmlns:a="http://schemas.openxmlformats.org/drawingml/2006/main" xmlns:r="http://schemas.openxmlformats.org/officeDocument/2006/relationships" xmlns:p="http://schemas.openxmlformats.org/presentationml/2006/main">
  <p:tag name="PA" val="v5.2.11"/>
</p:tagLst>
</file>

<file path=ppt/tags/tag22.xml><?xml version="1.0" encoding="utf-8"?>
<p:tagLst xmlns:a="http://schemas.openxmlformats.org/drawingml/2006/main" xmlns:r="http://schemas.openxmlformats.org/officeDocument/2006/relationships" xmlns:p="http://schemas.openxmlformats.org/presentationml/2006/main">
  <p:tag name="ISLIDE.ICON" val="#100231;#100875;"/>
</p:tagLst>
</file>

<file path=ppt/tags/tag23.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TotalTime>
  <Words>2362</Words>
  <Application>Microsoft Office PowerPoint</Application>
  <PresentationFormat>宽屏</PresentationFormat>
  <Paragraphs>82</Paragraphs>
  <Slides>23</Slides>
  <Notes>0</Notes>
  <HiddenSlides>0</HiddenSlides>
  <MMClips>2</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等线</vt:lpstr>
      <vt:lpstr>等线 Light</vt:lpstr>
      <vt:lpstr>方正姚体</vt:lpstr>
      <vt:lpstr>华文宋体</vt:lpstr>
      <vt:lpstr>华文新魏</vt:lpstr>
      <vt:lpstr>宋体</vt:lpstr>
      <vt:lpstr>Arial</vt:lpstr>
      <vt:lpstr>Imprint MT Shadow</vt:lpstr>
      <vt:lpstr>Wingdings</vt:lpstr>
      <vt:lpstr>Office 主题​​</vt:lpstr>
      <vt:lpstr>从“无人机”到“新天地” ——用马原视角解锁低空经济蓝海</vt:lpstr>
      <vt:lpstr>目录 </vt:lpstr>
      <vt:lpstr>1</vt:lpstr>
      <vt:lpstr>低空经济与马克思主义原理</vt:lpstr>
      <vt:lpstr>低空经济的发展现状</vt:lpstr>
      <vt:lpstr>无人机的发展</vt:lpstr>
      <vt:lpstr>2</vt:lpstr>
      <vt:lpstr>1. 无人机航拍与娱乐：消费领域的“使用价值”创造</vt:lpstr>
      <vt:lpstr>2. 农业喷洒与农产品运输：生产力革命的“劳动资料”升级</vt:lpstr>
      <vt:lpstr>3. 交通管理与电力巡检：公共领域的“社会总劳动”优化</vt:lpstr>
      <vt:lpstr>3</vt:lpstr>
      <vt:lpstr>理论分析</vt:lpstr>
      <vt:lpstr>PowerPoint 演示文稿</vt:lpstr>
      <vt:lpstr>PowerPoint 演示文稿</vt:lpstr>
      <vt:lpstr>PowerPoint 演示文稿</vt:lpstr>
      <vt:lpstr>二.生产关系的系统性调试</vt:lpstr>
      <vt:lpstr>二.生产关系的系统性调试</vt:lpstr>
      <vt:lpstr>二.生产关系的系统性调试</vt:lpstr>
      <vt:lpstr>三.矛盾运动的生动体现</vt:lpstr>
      <vt:lpstr>4</vt:lpstr>
      <vt:lpstr>总结与展望</vt:lpstr>
      <vt:lpstr>总结与展望</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北京交通大学 毕业答辩ppt模板</dc:title>
  <dc:creator>wang jiaqi</dc:creator>
  <cp:lastModifiedBy>辰熙 郭</cp:lastModifiedBy>
  <cp:revision>41</cp:revision>
  <dcterms:created xsi:type="dcterms:W3CDTF">2022-12-17T07:24:00Z</dcterms:created>
  <dcterms:modified xsi:type="dcterms:W3CDTF">2025-12-16T05:06:37Z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E11C32E36A264F1991642D6272BAD6A6</vt:lpwstr>
  </property>
  <property fmtid="{D5CDD505-2E9C-101B-9397-08002B2CF9AE}" pid="3" name="KSOProductBuildVer">
    <vt:lpwstr>2052-12.1.0.24034</vt:lpwstr>
  </property>
</Properties>
</file>